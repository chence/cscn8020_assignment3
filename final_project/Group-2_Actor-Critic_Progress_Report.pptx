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9"/>
  </p:normalViewPr>
  <p:slideViewPr>
    <p:cSldViewPr snapToGrid="0">
      <p:cViewPr varScale="1">
        <p:scale>
          <a:sx n="102" d="100"/>
          <a:sy n="102" d="100"/>
        </p:scale>
        <p:origin x="21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Validation success (%)</c:v>
          </c:tx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Lit>
              <c:formatCode>General</c:formatCode>
              <c:ptCount val="8"/>
              <c:pt idx="0">
                <c:v>5</c:v>
              </c:pt>
              <c:pt idx="1">
                <c:v>10</c:v>
              </c:pt>
              <c:pt idx="2">
                <c:v>15</c:v>
              </c:pt>
              <c:pt idx="3">
                <c:v>20</c:v>
              </c:pt>
              <c:pt idx="4">
                <c:v>25</c:v>
              </c:pt>
              <c:pt idx="5">
                <c:v>30</c:v>
              </c:pt>
              <c:pt idx="6">
                <c:v>35</c:v>
              </c:pt>
              <c:pt idx="7">
                <c:v>40</c:v>
              </c:pt>
            </c:numLit>
          </c:cat>
          <c:val>
            <c:numLit>
              <c:formatCode>General</c:formatCode>
              <c:ptCount val="8"/>
              <c:pt idx="0">
                <c:v>40</c:v>
              </c:pt>
              <c:pt idx="1">
                <c:v>0</c:v>
              </c:pt>
              <c:pt idx="2">
                <c:v>70</c:v>
              </c:pt>
              <c:pt idx="3">
                <c:v>100</c:v>
              </c:pt>
              <c:pt idx="4">
                <c:v>100</c:v>
              </c:pt>
              <c:pt idx="5">
                <c:v>100</c:v>
              </c:pt>
              <c:pt idx="6">
                <c:v>100</c:v>
              </c:pt>
              <c:pt idx="7">
                <c:v>100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B670-FF48-9FE6-FD7A2BE91F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CA"/>
                  <a:t>PPO update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3A475C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25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4500239-1688-4AB9-8D76-D3D7C7F9DAC0}"/>
              </a:ext>
            </a:extLst>
          </p:cNvPr>
          <p:cNvSpPr>
            <a:spLocks noGrp="1"/>
          </p:cNvSpPr>
          <p:nvPr/>
        </p:nvSpPr>
        <p:spPr>
          <a:xfrm>
            <a:off x="4133850" y="704850"/>
            <a:ext cx="2381250" cy="266700"/>
          </a:xfrm>
          <a:prstGeom prst="roundRect">
            <a:avLst>
              <a:gd name="adj" fmla="val 42857"/>
            </a:avLst>
          </a:prstGeom>
          <a:solidFill>
            <a:srgbClr val="07101F"/>
          </a:solidFill>
          <a:ln w="9525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3EBEEB-B49B-4119-9F6C-CD1D03F48073}"/>
              </a:ext>
            </a:extLst>
          </p:cNvPr>
          <p:cNvSpPr>
            <a:spLocks noGrp="1"/>
          </p:cNvSpPr>
          <p:nvPr/>
        </p:nvSpPr>
        <p:spPr>
          <a:xfrm>
            <a:off x="4276725" y="723900"/>
            <a:ext cx="22383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F0C8"/>
                </a:solidFill>
              </a:defRPr>
            </a:pPr>
            <a:r>
              <a:rPr sz="900" b="1">
                <a:solidFill>
                  <a:srgbClr val="00F0C8"/>
                </a:solidFill>
              </a:rPr>
              <a:t>CSCN8020 FINAL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BFD7D6-75C9-4E24-8E3F-AEA82A459ED2}"/>
              </a:ext>
            </a:extLst>
          </p:cNvPr>
          <p:cNvSpPr>
            <a:spLocks noGrp="1"/>
          </p:cNvSpPr>
          <p:nvPr/>
        </p:nvSpPr>
        <p:spPr>
          <a:xfrm>
            <a:off x="4133850" y="1381125"/>
            <a:ext cx="67627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Unitree G1 Actor-Critic</a:t>
            </a:r>
          </a:p>
          <a:p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Reach-and-Touch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C4BF22-ACEF-4048-9AFB-B06032AF00B3}"/>
              </a:ext>
            </a:extLst>
          </p:cNvPr>
          <p:cNvSpPr>
            <a:spLocks noGrp="1"/>
          </p:cNvSpPr>
          <p:nvPr/>
        </p:nvSpPr>
        <p:spPr>
          <a:xfrm>
            <a:off x="4133850" y="278130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CDD5E1"/>
                </a:solidFill>
              </a:defRPr>
            </a:pPr>
            <a:r>
              <a:rPr sz="1800" b="1">
                <a:solidFill>
                  <a:srgbClr val="CDD5E1"/>
                </a:solidFill>
              </a:rPr>
              <a:t>Project Progress Report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DA20D7-60A4-4A67-8160-C314C05F8029}"/>
              </a:ext>
            </a:extLst>
          </p:cNvPr>
          <p:cNvSpPr>
            <a:spLocks noGrp="1"/>
          </p:cNvSpPr>
          <p:nvPr/>
        </p:nvSpPr>
        <p:spPr>
          <a:xfrm>
            <a:off x="4133850" y="3324225"/>
            <a:ext cx="6858000" cy="19050"/>
          </a:xfrm>
          <a:prstGeom prst="rect">
            <a:avLst/>
          </a:prstGeom>
          <a:solidFill>
            <a:srgbClr val="3A475C"/>
          </a:solidFill>
          <a:ln w="0">
            <a:solidFill>
              <a:srgbClr val="3A4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93EFEC-4C61-4688-BFBE-5093AD867446}"/>
              </a:ext>
            </a:extLst>
          </p:cNvPr>
          <p:cNvSpPr>
            <a:spLocks noGrp="1"/>
          </p:cNvSpPr>
          <p:nvPr/>
        </p:nvSpPr>
        <p:spPr>
          <a:xfrm>
            <a:off x="4133850" y="36004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Group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13395C-3FE5-4C78-AFEB-E85B6A7B356E}"/>
              </a:ext>
            </a:extLst>
          </p:cNvPr>
          <p:cNvSpPr>
            <a:spLocks noGrp="1"/>
          </p:cNvSpPr>
          <p:nvPr/>
        </p:nvSpPr>
        <p:spPr>
          <a:xfrm>
            <a:off x="4133850" y="403860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CDD5E1"/>
                </a:solidFill>
              </a:defRPr>
            </a:pPr>
            <a:r>
              <a:rPr sz="1500" b="0">
                <a:solidFill>
                  <a:srgbClr val="CDD5E1"/>
                </a:solidFill>
              </a:rPr>
              <a:t>Haibo Yuan  |  Ce Chen  |  Zhuoran Zhang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9B7E07-6378-4A46-94AD-01C814131F0E}"/>
              </a:ext>
            </a:extLst>
          </p:cNvPr>
          <p:cNvSpPr>
            <a:spLocks noGrp="1"/>
          </p:cNvSpPr>
          <p:nvPr/>
        </p:nvSpPr>
        <p:spPr>
          <a:xfrm>
            <a:off x="4133850" y="4724400"/>
            <a:ext cx="666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0">
                <a:solidFill>
                  <a:srgbClr val="8FA1B7"/>
                </a:solidFill>
              </a:defRPr>
            </a:pPr>
            <a:r>
              <a:rPr sz="1725" b="0">
                <a:solidFill>
                  <a:srgbClr val="8FA1B7"/>
                </a:solidFill>
              </a:rPr>
              <a:t>A learned policy that adapts to different reachable targets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9F7937-33C3-8163-1A9B-2450F790FF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9100" y="685800"/>
            <a:ext cx="3714750" cy="546735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962566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ction-label">
            <a:extLst>
              <a:ext uri="{FF2B5EF4-FFF2-40B4-BE49-F238E27FC236}">
                <a16:creationId xmlns:a16="http://schemas.microsoft.com/office/drawing/2014/main" id="{21545255-3F9D-4045-9F84-4A75BF37194C}"/>
              </a:ext>
            </a:extLst>
          </p:cNvPr>
          <p:cNvSpPr>
            <a:spLocks noGrp="1"/>
          </p:cNvSpPr>
          <p:nvPr/>
        </p:nvSpPr>
        <p:spPr>
          <a:xfrm>
            <a:off x="704850" y="323850"/>
            <a:ext cx="2190750" cy="266700"/>
          </a:xfrm>
          <a:prstGeom prst="roundRect">
            <a:avLst>
              <a:gd name="adj" fmla="val 42857"/>
            </a:avLst>
          </a:prstGeom>
          <a:solidFill>
            <a:srgbClr val="07101F"/>
          </a:solidFill>
          <a:ln w="9525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112494-0A39-4310-9ADE-F99C9327FEED}"/>
              </a:ext>
            </a:extLst>
          </p:cNvPr>
          <p:cNvSpPr>
            <a:spLocks noGrp="1"/>
          </p:cNvSpPr>
          <p:nvPr/>
        </p:nvSpPr>
        <p:spPr>
          <a:xfrm>
            <a:off x="819150" y="3429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F0C8"/>
                </a:solidFill>
              </a:defRPr>
            </a:pPr>
            <a:r>
              <a:rPr sz="900" b="1">
                <a:solidFill>
                  <a:srgbClr val="00F0C8"/>
                </a:solidFill>
              </a:rPr>
              <a:t>— CURRENT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39667A-B418-4851-AD35-DEB8354656EC}"/>
              </a:ext>
            </a:extLst>
          </p:cNvPr>
          <p:cNvSpPr>
            <a:spLocks noGrp="1"/>
          </p:cNvSpPr>
          <p:nvPr/>
        </p:nvSpPr>
        <p:spPr>
          <a:xfrm>
            <a:off x="11353800" y="342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F4F7FB"/>
                </a:solidFill>
              </a:defRPr>
            </a:pPr>
            <a:r>
              <a:rPr sz="975" b="1">
                <a:solidFill>
                  <a:srgbClr val="F4F7FB"/>
                </a:solidFill>
              </a:rPr>
              <a:t>02</a:t>
            </a:r>
          </a:p>
        </p:txBody>
      </p:sp>
      <p:sp>
        <p:nvSpPr>
          <p:cNvPr id="4" name="slide-2-title">
            <a:extLst>
              <a:ext uri="{FF2B5EF4-FFF2-40B4-BE49-F238E27FC236}">
                <a16:creationId xmlns:a16="http://schemas.microsoft.com/office/drawing/2014/main" id="{87C92FA5-41D6-4C7A-84F8-AC3408BDDD25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The learned policy now reaches different blue targets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B3F669-67FD-4791-962B-6E12418E955F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10782300" cy="19050"/>
          </a:xfrm>
          <a:prstGeom prst="rect">
            <a:avLst/>
          </a:prstGeom>
          <a:solidFill>
            <a:srgbClr val="3A475C"/>
          </a:solidFill>
          <a:ln w="0">
            <a:solidFill>
              <a:srgbClr val="3A4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E47731-ED55-47AF-B8E0-7AE39CA56036}"/>
              </a:ext>
            </a:extLst>
          </p:cNvPr>
          <p:cNvSpPr>
            <a:spLocks noGrp="1"/>
          </p:cNvSpPr>
          <p:nvPr/>
        </p:nvSpPr>
        <p:spPr>
          <a:xfrm>
            <a:off x="714375" y="19621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Current milestone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43B5C2-7A95-4394-A6E5-3337A0BA11B0}"/>
              </a:ext>
            </a:extLst>
          </p:cNvPr>
          <p:cNvSpPr>
            <a:spLocks noGrp="1"/>
          </p:cNvSpPr>
          <p:nvPr/>
        </p:nvSpPr>
        <p:spPr>
          <a:xfrm>
            <a:off x="714375" y="2305050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CDD5E1"/>
                </a:solidFill>
              </a:defRPr>
            </a:pPr>
            <a:r>
              <a:rPr sz="1500" b="0">
                <a:solidFill>
                  <a:srgbClr val="CDD5E1"/>
                </a:solidFill>
              </a:rPr>
              <a:t>PPO Actor-Critic controls the left arm while the Inspire hand remains in a validated pointing pose.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94F15F-9C98-48FB-9D2B-B8D217CBB4FF}"/>
              </a:ext>
            </a:extLst>
          </p:cNvPr>
          <p:cNvSpPr>
            <a:spLocks noGrp="1"/>
          </p:cNvSpPr>
          <p:nvPr/>
        </p:nvSpPr>
        <p:spPr>
          <a:xfrm>
            <a:off x="6477000" y="19621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Target-conditioned behavior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99BEB3-68E6-4AF2-8A51-34EB5994C109}"/>
              </a:ext>
            </a:extLst>
          </p:cNvPr>
          <p:cNvSpPr>
            <a:spLocks noGrp="1"/>
          </p:cNvSpPr>
          <p:nvPr/>
        </p:nvSpPr>
        <p:spPr>
          <a:xfrm>
            <a:off x="6477000" y="230505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CDD5E1"/>
                </a:solidFill>
              </a:defRPr>
            </a:pPr>
            <a:r>
              <a:rPr sz="1500" b="0">
                <a:solidFill>
                  <a:srgbClr val="CDD5E1"/>
                </a:solidFill>
              </a:rPr>
              <a:t>A new reachable 3D target is generated each episode and included in the state.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84638D-C9BE-4307-8D47-2A584464DE6F}"/>
              </a:ext>
            </a:extLst>
          </p:cNvPr>
          <p:cNvSpPr>
            <a:spLocks noGrp="1"/>
          </p:cNvSpPr>
          <p:nvPr/>
        </p:nvSpPr>
        <p:spPr>
          <a:xfrm>
            <a:off x="857250" y="2762250"/>
            <a:ext cx="266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450" b="1">
                <a:solidFill>
                  <a:srgbClr val="F4F7FB"/>
                </a:solidFill>
              </a:defRPr>
            </a:pPr>
            <a:r>
              <a:rPr sz="3450" b="1">
                <a:solidFill>
                  <a:srgbClr val="F4F7FB"/>
                </a:solidFill>
              </a:rPr>
              <a:t>100/100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66DE47-C3FD-41C0-894E-A1F1A61D79C2}"/>
              </a:ext>
            </a:extLst>
          </p:cNvPr>
          <p:cNvSpPr>
            <a:spLocks noGrp="1"/>
          </p:cNvSpPr>
          <p:nvPr/>
        </p:nvSpPr>
        <p:spPr>
          <a:xfrm>
            <a:off x="857250" y="3448050"/>
            <a:ext cx="266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Independent successes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1C7CB-535A-4CFB-8B84-F91AF09D6634}"/>
              </a:ext>
            </a:extLst>
          </p:cNvPr>
          <p:cNvSpPr>
            <a:spLocks noGrp="1"/>
          </p:cNvSpPr>
          <p:nvPr/>
        </p:nvSpPr>
        <p:spPr>
          <a:xfrm>
            <a:off x="857250" y="3790950"/>
            <a:ext cx="266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8FA1B7"/>
                </a:solidFill>
              </a:defRPr>
            </a:pPr>
            <a:r>
              <a:rPr sz="1125" b="0">
                <a:solidFill>
                  <a:srgbClr val="8FA1B7"/>
                </a:solidFill>
              </a:rPr>
              <a:t>randomized evaluation targets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9FDD2-4827-4690-882C-619ADF6DB19B}"/>
              </a:ext>
            </a:extLst>
          </p:cNvPr>
          <p:cNvSpPr>
            <a:spLocks noGrp="1"/>
          </p:cNvSpPr>
          <p:nvPr/>
        </p:nvSpPr>
        <p:spPr>
          <a:xfrm>
            <a:off x="4762500" y="2762250"/>
            <a:ext cx="266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450" b="1">
                <a:solidFill>
                  <a:srgbClr val="F4F7FB"/>
                </a:solidFill>
              </a:defRPr>
            </a:pPr>
            <a:r>
              <a:rPr sz="3450" b="1">
                <a:solidFill>
                  <a:srgbClr val="F4F7FB"/>
                </a:solidFill>
              </a:rPr>
              <a:t>0.0185 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F77E82-475B-4BC5-AE97-217E88D71106}"/>
              </a:ext>
            </a:extLst>
          </p:cNvPr>
          <p:cNvSpPr>
            <a:spLocks noGrp="1"/>
          </p:cNvSpPr>
          <p:nvPr/>
        </p:nvSpPr>
        <p:spPr>
          <a:xfrm>
            <a:off x="4762500" y="3448050"/>
            <a:ext cx="266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Mean minimum distance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38F213-27EE-43C7-81A9-9EF89540709B}"/>
              </a:ext>
            </a:extLst>
          </p:cNvPr>
          <p:cNvSpPr>
            <a:spLocks noGrp="1"/>
          </p:cNvSpPr>
          <p:nvPr/>
        </p:nvSpPr>
        <p:spPr>
          <a:xfrm>
            <a:off x="4762500" y="3790950"/>
            <a:ext cx="266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8FA1B7"/>
                </a:solidFill>
              </a:defRPr>
            </a:pPr>
            <a:r>
              <a:rPr sz="1125" b="0">
                <a:solidFill>
                  <a:srgbClr val="8FA1B7"/>
                </a:solidFill>
              </a:rPr>
              <a:t>touch tolerance = 0.045 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405B6A-91A4-4C0C-9185-CDAE87DA83F1}"/>
              </a:ext>
            </a:extLst>
          </p:cNvPr>
          <p:cNvSpPr>
            <a:spLocks noGrp="1"/>
          </p:cNvSpPr>
          <p:nvPr/>
        </p:nvSpPr>
        <p:spPr>
          <a:xfrm>
            <a:off x="8667750" y="2762250"/>
            <a:ext cx="266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450" b="1">
                <a:solidFill>
                  <a:srgbClr val="F4F7FB"/>
                </a:solidFill>
              </a:defRPr>
            </a:pPr>
            <a:r>
              <a:rPr sz="3450" b="1">
                <a:solidFill>
                  <a:srgbClr val="F4F7FB"/>
                </a:solidFill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57AD92-58A5-4A54-AF95-D0C86D3C12CD}"/>
              </a:ext>
            </a:extLst>
          </p:cNvPr>
          <p:cNvSpPr>
            <a:spLocks noGrp="1"/>
          </p:cNvSpPr>
          <p:nvPr/>
        </p:nvSpPr>
        <p:spPr>
          <a:xfrm>
            <a:off x="8667750" y="3448050"/>
            <a:ext cx="266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Controlled arm joints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1FE96C-65A5-4893-B77D-1344C8A8DA91}"/>
              </a:ext>
            </a:extLst>
          </p:cNvPr>
          <p:cNvSpPr>
            <a:spLocks noGrp="1"/>
          </p:cNvSpPr>
          <p:nvPr/>
        </p:nvSpPr>
        <p:spPr>
          <a:xfrm>
            <a:off x="8667750" y="3790950"/>
            <a:ext cx="266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8FA1B7"/>
                </a:solidFill>
              </a:defRPr>
            </a:pPr>
            <a:r>
              <a:rPr sz="1125" b="0">
                <a:solidFill>
                  <a:srgbClr val="8FA1B7"/>
                </a:solidFill>
              </a:rPr>
              <a:t>continuous Actor actions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571D66-ECA6-4C8D-B3C6-DBDD6C22CF0B}"/>
              </a:ext>
            </a:extLst>
          </p:cNvPr>
          <p:cNvSpPr>
            <a:spLocks noGrp="1"/>
          </p:cNvSpPr>
          <p:nvPr/>
        </p:nvSpPr>
        <p:spPr>
          <a:xfrm>
            <a:off x="714375" y="4362450"/>
            <a:ext cx="10763250" cy="19050"/>
          </a:xfrm>
          <a:prstGeom prst="rect">
            <a:avLst/>
          </a:prstGeom>
          <a:solidFill>
            <a:srgbClr val="3A475C"/>
          </a:solidFill>
          <a:ln w="0">
            <a:solidFill>
              <a:srgbClr val="3A4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5C1F91-B1CF-4A4C-84E3-F41703786243}"/>
              </a:ext>
            </a:extLst>
          </p:cNvPr>
          <p:cNvSpPr>
            <a:spLocks noGrp="1"/>
          </p:cNvSpPr>
          <p:nvPr/>
        </p:nvSpPr>
        <p:spPr>
          <a:xfrm>
            <a:off x="714375" y="4572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F4F7FB"/>
                </a:solidFill>
              </a:defRPr>
            </a:pPr>
            <a:r>
              <a:rPr sz="1425" b="1">
                <a:solidFill>
                  <a:srgbClr val="F4F7FB"/>
                </a:solidFill>
              </a:rPr>
              <a:t>Evidence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B201C5-BF11-4208-8FDE-3EB750B16EA7}"/>
              </a:ext>
            </a:extLst>
          </p:cNvPr>
          <p:cNvSpPr>
            <a:spLocks noGrp="1"/>
          </p:cNvSpPr>
          <p:nvPr/>
        </p:nvSpPr>
        <p:spPr>
          <a:xfrm>
            <a:off x="714375" y="4895850"/>
            <a:ext cx="51911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CDD5E1"/>
                </a:solidFill>
              </a:defRPr>
            </a:pPr>
            <a:r>
              <a:rPr sz="1425" b="0">
                <a:solidFill>
                  <a:srgbClr val="CDD5E1"/>
                </a:solidFill>
              </a:rPr>
              <a:t>Saved checkpoint selected at PPO update 35; deterministic evaluation uses separate seeds.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35B3B9-1DBB-4E61-8EBB-1D6462B4652C}"/>
              </a:ext>
            </a:extLst>
          </p:cNvPr>
          <p:cNvSpPr>
            <a:spLocks noGrp="1"/>
          </p:cNvSpPr>
          <p:nvPr/>
        </p:nvSpPr>
        <p:spPr>
          <a:xfrm>
            <a:off x="6477000" y="45720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F4F7FB"/>
                </a:solidFill>
              </a:defRPr>
            </a:pPr>
            <a:r>
              <a:rPr sz="1425" b="1">
                <a:solidFill>
                  <a:srgbClr val="F4F7FB"/>
                </a:solidFill>
              </a:rPr>
              <a:t>Scope boundary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559025-9E07-41FC-9409-BD0A65C95DE6}"/>
              </a:ext>
            </a:extLst>
          </p:cNvPr>
          <p:cNvSpPr>
            <a:spLocks noGrp="1"/>
          </p:cNvSpPr>
          <p:nvPr/>
        </p:nvSpPr>
        <p:spPr>
          <a:xfrm>
            <a:off x="6477000" y="4895850"/>
            <a:ext cx="4762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CDD5E1"/>
                </a:solidFill>
              </a:defRPr>
            </a:pPr>
            <a:r>
              <a:rPr sz="1425" b="0">
                <a:solidFill>
                  <a:srgbClr val="CDD5E1"/>
                </a:solidFill>
              </a:rPr>
              <a:t>This is a kinematic reaching baseline with virtual touch, not torque control or detailed physical contact.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A1ECEF-8546-47FA-BEA0-7E0FC58F2728}"/>
              </a:ext>
            </a:extLst>
          </p:cNvPr>
          <p:cNvSpPr>
            <a:spLocks noGrp="1"/>
          </p:cNvSpPr>
          <p:nvPr/>
        </p:nvSpPr>
        <p:spPr>
          <a:xfrm>
            <a:off x="714375" y="5857875"/>
            <a:ext cx="38100" cy="523875"/>
          </a:xfrm>
          <a:prstGeom prst="rect">
            <a:avLst/>
          </a:prstGeom>
          <a:solidFill>
            <a:srgbClr val="00F0C8"/>
          </a:solidFill>
          <a:ln w="0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A54A838-AAB4-4529-91AF-7033EA408E92}"/>
              </a:ext>
            </a:extLst>
          </p:cNvPr>
          <p:cNvSpPr>
            <a:spLocks noGrp="1"/>
          </p:cNvSpPr>
          <p:nvPr/>
        </p:nvSpPr>
        <p:spPr>
          <a:xfrm>
            <a:off x="914400" y="5924550"/>
            <a:ext cx="9906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The target changes, the state changes, and the Actor produces a different joint trajectory.</a:t>
            </a:r>
          </a:p>
        </p:txBody>
      </p:sp>
    </p:spTree>
    <p:extLst>
      <p:ext uri="{BB962C8B-B14F-4D97-AF65-F5344CB8AC3E}">
        <p14:creationId xmlns:p14="http://schemas.microsoft.com/office/powerpoint/2010/main" val="195662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ection-label">
            <a:extLst>
              <a:ext uri="{FF2B5EF4-FFF2-40B4-BE49-F238E27FC236}">
                <a16:creationId xmlns:a16="http://schemas.microsoft.com/office/drawing/2014/main" id="{767426F2-BBF1-4223-94C4-F77959041ECF}"/>
              </a:ext>
            </a:extLst>
          </p:cNvPr>
          <p:cNvSpPr>
            <a:spLocks noGrp="1"/>
          </p:cNvSpPr>
          <p:nvPr/>
        </p:nvSpPr>
        <p:spPr>
          <a:xfrm>
            <a:off x="704850" y="323850"/>
            <a:ext cx="2105025" cy="266700"/>
          </a:xfrm>
          <a:prstGeom prst="roundRect">
            <a:avLst>
              <a:gd name="adj" fmla="val 42857"/>
            </a:avLst>
          </a:prstGeom>
          <a:solidFill>
            <a:srgbClr val="07101F"/>
          </a:solidFill>
          <a:ln w="9525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2C4E24-9500-4F60-AB71-23CB63B2AC0A}"/>
              </a:ext>
            </a:extLst>
          </p:cNvPr>
          <p:cNvSpPr>
            <a:spLocks noGrp="1"/>
          </p:cNvSpPr>
          <p:nvPr/>
        </p:nvSpPr>
        <p:spPr>
          <a:xfrm>
            <a:off x="819150" y="3429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F0C8"/>
                </a:solidFill>
              </a:defRPr>
            </a:pPr>
            <a:r>
              <a:rPr sz="900" b="1">
                <a:solidFill>
                  <a:srgbClr val="00F0C8"/>
                </a:solidFill>
              </a:rPr>
              <a:t>— WHAT THE ROBOT LEARNS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909B46-270A-4701-B525-1CC2C0088913}"/>
              </a:ext>
            </a:extLst>
          </p:cNvPr>
          <p:cNvSpPr>
            <a:spLocks noGrp="1"/>
          </p:cNvSpPr>
          <p:nvPr/>
        </p:nvSpPr>
        <p:spPr>
          <a:xfrm>
            <a:off x="11353800" y="342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F4F7FB"/>
                </a:solidFill>
              </a:defRPr>
            </a:pPr>
            <a:r>
              <a:rPr sz="975" b="1">
                <a:solidFill>
                  <a:srgbClr val="F4F7FB"/>
                </a:solidFill>
              </a:rPr>
              <a:t>03</a:t>
            </a:r>
          </a:p>
        </p:txBody>
      </p:sp>
      <p:sp>
        <p:nvSpPr>
          <p:cNvPr id="4" name="slide-3-title">
            <a:extLst>
              <a:ext uri="{FF2B5EF4-FFF2-40B4-BE49-F238E27FC236}">
                <a16:creationId xmlns:a16="http://schemas.microsoft.com/office/drawing/2014/main" id="{8EE69978-8474-4BBC-94FE-F157AA9CB760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The Actor learns a target-conditioned reaching policy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1F6B32-077D-4B2F-88C2-30ECE066C66C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10782300" cy="19050"/>
          </a:xfrm>
          <a:prstGeom prst="rect">
            <a:avLst/>
          </a:prstGeom>
          <a:solidFill>
            <a:srgbClr val="3A475C"/>
          </a:solidFill>
          <a:ln w="0">
            <a:solidFill>
              <a:srgbClr val="3A4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88AF487-F02A-4116-89ED-B941115D158B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2333625" cy="1809750"/>
          </a:xfrm>
          <a:prstGeom prst="roundRect">
            <a:avLst>
              <a:gd name="adj" fmla="val 6316"/>
            </a:avLst>
          </a:prstGeom>
          <a:solidFill>
            <a:srgbClr val="0B1425"/>
          </a:solidFill>
          <a:ln w="14288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618E2F-9B6E-47C8-A56B-A19BECD1FA03}"/>
              </a:ext>
            </a:extLst>
          </p:cNvPr>
          <p:cNvSpPr>
            <a:spLocks noGrp="1"/>
          </p:cNvSpPr>
          <p:nvPr/>
        </p:nvSpPr>
        <p:spPr>
          <a:xfrm>
            <a:off x="933450" y="2381250"/>
            <a:ext cx="1952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Observe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A42C92-716D-4B6B-9D7E-7781E5BD842A}"/>
              </a:ext>
            </a:extLst>
          </p:cNvPr>
          <p:cNvSpPr>
            <a:spLocks noGrp="1"/>
          </p:cNvSpPr>
          <p:nvPr/>
        </p:nvSpPr>
        <p:spPr>
          <a:xfrm>
            <a:off x="933450" y="2857500"/>
            <a:ext cx="19526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CDD5E1"/>
                </a:solidFill>
              </a:defRPr>
            </a:pPr>
            <a:r>
              <a:rPr sz="1350" b="0">
                <a:solidFill>
                  <a:srgbClr val="CDD5E1"/>
                </a:solidFill>
              </a:rPr>
              <a:t>Robot joints, fingertip,</a:t>
            </a:r>
          </a:p>
          <a:p>
            <a:pPr algn="ctr">
              <a:defRPr sz="1350" b="0">
                <a:solidFill>
                  <a:srgbClr val="CDD5E1"/>
                </a:solidFill>
              </a:defRPr>
            </a:pPr>
            <a:r>
              <a:rPr sz="1350" b="0">
                <a:solidFill>
                  <a:srgbClr val="CDD5E1"/>
                </a:solidFill>
              </a:rPr>
              <a:t>blue target and relative error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06DAAEB-34D7-48F1-8135-DD28AA10919B}"/>
              </a:ext>
            </a:extLst>
          </p:cNvPr>
          <p:cNvSpPr>
            <a:spLocks noGrp="1"/>
          </p:cNvSpPr>
          <p:nvPr/>
        </p:nvSpPr>
        <p:spPr>
          <a:xfrm>
            <a:off x="3429000" y="2238375"/>
            <a:ext cx="2333625" cy="1809750"/>
          </a:xfrm>
          <a:prstGeom prst="roundRect">
            <a:avLst>
              <a:gd name="adj" fmla="val 6316"/>
            </a:avLst>
          </a:prstGeom>
          <a:solidFill>
            <a:srgbClr val="0B1425"/>
          </a:solidFill>
          <a:ln w="14288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61EC78-F25C-4B4C-AB77-DD445D534270}"/>
              </a:ext>
            </a:extLst>
          </p:cNvPr>
          <p:cNvSpPr>
            <a:spLocks noGrp="1"/>
          </p:cNvSpPr>
          <p:nvPr/>
        </p:nvSpPr>
        <p:spPr>
          <a:xfrm>
            <a:off x="3600450" y="2381250"/>
            <a:ext cx="1952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Act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69E463-E30D-4B10-B2FB-25D4AB91DD90}"/>
              </a:ext>
            </a:extLst>
          </p:cNvPr>
          <p:cNvSpPr>
            <a:spLocks noGrp="1"/>
          </p:cNvSpPr>
          <p:nvPr/>
        </p:nvSpPr>
        <p:spPr>
          <a:xfrm>
            <a:off x="3600450" y="2857500"/>
            <a:ext cx="19526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CDD5E1"/>
                </a:solidFill>
              </a:defRPr>
            </a:pPr>
            <a:r>
              <a:rPr sz="1350" b="0">
                <a:solidFill>
                  <a:srgbClr val="CDD5E1"/>
                </a:solidFill>
              </a:rPr>
              <a:t>Four continuous joint-position</a:t>
            </a:r>
          </a:p>
          <a:p>
            <a:pPr algn="ctr">
              <a:defRPr sz="1350" b="0">
                <a:solidFill>
                  <a:srgbClr val="CDD5E1"/>
                </a:solidFill>
              </a:defRPr>
            </a:pPr>
            <a:r>
              <a:rPr sz="1350" b="0">
                <a:solidFill>
                  <a:srgbClr val="CDD5E1"/>
                </a:solidFill>
              </a:rPr>
              <a:t>increments from the Actor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0151CEA-00C9-4ED8-8D97-EAC34E02C0E8}"/>
              </a:ext>
            </a:extLst>
          </p:cNvPr>
          <p:cNvSpPr>
            <a:spLocks noGrp="1"/>
          </p:cNvSpPr>
          <p:nvPr/>
        </p:nvSpPr>
        <p:spPr>
          <a:xfrm>
            <a:off x="6096000" y="2238375"/>
            <a:ext cx="2333625" cy="1809750"/>
          </a:xfrm>
          <a:prstGeom prst="roundRect">
            <a:avLst>
              <a:gd name="adj" fmla="val 6316"/>
            </a:avLst>
          </a:prstGeom>
          <a:solidFill>
            <a:srgbClr val="0B1425"/>
          </a:solidFill>
          <a:ln w="14288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4A70D9-8A20-4C0D-91D6-E4CE69826F0A}"/>
              </a:ext>
            </a:extLst>
          </p:cNvPr>
          <p:cNvSpPr>
            <a:spLocks noGrp="1"/>
          </p:cNvSpPr>
          <p:nvPr/>
        </p:nvSpPr>
        <p:spPr>
          <a:xfrm>
            <a:off x="6267450" y="2381250"/>
            <a:ext cx="1952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Evaluate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116E18-9288-42CD-B28D-637EBCD3F9CF}"/>
              </a:ext>
            </a:extLst>
          </p:cNvPr>
          <p:cNvSpPr>
            <a:spLocks noGrp="1"/>
          </p:cNvSpPr>
          <p:nvPr/>
        </p:nvSpPr>
        <p:spPr>
          <a:xfrm>
            <a:off x="6267450" y="2857500"/>
            <a:ext cx="19526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CDD5E1"/>
                </a:solidFill>
              </a:defRPr>
            </a:pPr>
            <a:r>
              <a:rPr sz="1350" b="0">
                <a:solidFill>
                  <a:srgbClr val="CDD5E1"/>
                </a:solidFill>
              </a:rPr>
              <a:t>Critic estimates V(s) and</a:t>
            </a:r>
          </a:p>
          <a:p>
            <a:pPr algn="ctr">
              <a:defRPr sz="1350" b="0">
                <a:solidFill>
                  <a:srgbClr val="CDD5E1"/>
                </a:solidFill>
              </a:defRPr>
            </a:pPr>
            <a:r>
              <a:rPr sz="1350" b="0">
                <a:solidFill>
                  <a:srgbClr val="CDD5E1"/>
                </a:solidFill>
              </a:rPr>
              <a:t>PPO computes an advantage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9C39ADC-9A2A-4A35-B39D-62F11B4C8255}"/>
              </a:ext>
            </a:extLst>
          </p:cNvPr>
          <p:cNvSpPr>
            <a:spLocks noGrp="1"/>
          </p:cNvSpPr>
          <p:nvPr/>
        </p:nvSpPr>
        <p:spPr>
          <a:xfrm>
            <a:off x="8763000" y="2238375"/>
            <a:ext cx="2333625" cy="1809750"/>
          </a:xfrm>
          <a:prstGeom prst="roundRect">
            <a:avLst>
              <a:gd name="adj" fmla="val 6316"/>
            </a:avLst>
          </a:prstGeom>
          <a:solidFill>
            <a:srgbClr val="0B1425"/>
          </a:solidFill>
          <a:ln w="14288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689AFC-56FE-4F0B-9D19-5DD46298B2CE}"/>
              </a:ext>
            </a:extLst>
          </p:cNvPr>
          <p:cNvSpPr>
            <a:spLocks noGrp="1"/>
          </p:cNvSpPr>
          <p:nvPr/>
        </p:nvSpPr>
        <p:spPr>
          <a:xfrm>
            <a:off x="8934450" y="2381250"/>
            <a:ext cx="1952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Improve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5FFB9D-FD58-4A8D-A37A-A7EDC01DBEBF}"/>
              </a:ext>
            </a:extLst>
          </p:cNvPr>
          <p:cNvSpPr>
            <a:spLocks noGrp="1"/>
          </p:cNvSpPr>
          <p:nvPr/>
        </p:nvSpPr>
        <p:spPr>
          <a:xfrm>
            <a:off x="8934450" y="2857500"/>
            <a:ext cx="19526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CDD5E1"/>
                </a:solidFill>
              </a:defRPr>
            </a:pPr>
            <a:r>
              <a:rPr sz="1350" b="0">
                <a:solidFill>
                  <a:srgbClr val="CDD5E1"/>
                </a:solidFill>
              </a:rPr>
              <a:t>Increase probability of actions</a:t>
            </a:r>
          </a:p>
          <a:p>
            <a:pPr algn="ctr">
              <a:defRPr sz="1350" b="0">
                <a:solidFill>
                  <a:srgbClr val="CDD5E1"/>
                </a:solidFill>
              </a:defRPr>
            </a:pPr>
            <a:r>
              <a:rPr sz="1350" b="0">
                <a:solidFill>
                  <a:srgbClr val="CDD5E1"/>
                </a:solidFill>
              </a:rPr>
              <a:t>that produce higher return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12A96F-EA38-4C05-BAA0-4A8FA8750378}"/>
              </a:ext>
            </a:extLst>
          </p:cNvPr>
          <p:cNvSpPr>
            <a:spLocks noGrp="1"/>
          </p:cNvSpPr>
          <p:nvPr/>
        </p:nvSpPr>
        <p:spPr>
          <a:xfrm>
            <a:off x="1466850" y="4333875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00F0C8"/>
                </a:solidFill>
              </a:defRPr>
            </a:pPr>
            <a:r>
              <a:rPr sz="2550" b="1">
                <a:solidFill>
                  <a:srgbClr val="00F0C8"/>
                </a:solidFill>
              </a:rPr>
              <a:t>sₜ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2B39E2-C8F0-442E-B9DC-26BDB3C5C926}"/>
              </a:ext>
            </a:extLst>
          </p:cNvPr>
          <p:cNvSpPr>
            <a:spLocks noGrp="1"/>
          </p:cNvSpPr>
          <p:nvPr/>
        </p:nvSpPr>
        <p:spPr>
          <a:xfrm>
            <a:off x="2571750" y="4333875"/>
            <a:ext cx="57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400" b="0">
                <a:solidFill>
                  <a:srgbClr val="29A9FF"/>
                </a:solidFill>
              </a:defRPr>
            </a:pPr>
            <a:r>
              <a:rPr sz="2400" b="0">
                <a:solidFill>
                  <a:srgbClr val="29A9FF"/>
                </a:solidFill>
              </a:rPr>
              <a:t>→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6CA469-6090-4B9F-B3E1-9673BA416BC7}"/>
              </a:ext>
            </a:extLst>
          </p:cNvPr>
          <p:cNvSpPr>
            <a:spLocks noGrp="1"/>
          </p:cNvSpPr>
          <p:nvPr/>
        </p:nvSpPr>
        <p:spPr>
          <a:xfrm>
            <a:off x="3476625" y="4333875"/>
            <a:ext cx="2476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75" b="1">
                <a:solidFill>
                  <a:srgbClr val="F4F7FB"/>
                </a:solidFill>
              </a:defRPr>
            </a:pPr>
            <a:r>
              <a:rPr sz="2175" b="1">
                <a:solidFill>
                  <a:srgbClr val="F4F7FB"/>
                </a:solidFill>
              </a:rPr>
              <a:t>aₜ ~ πθ(a|sₜ)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8A9EAE-7923-499B-B087-EB69FE20809A}"/>
              </a:ext>
            </a:extLst>
          </p:cNvPr>
          <p:cNvSpPr>
            <a:spLocks noGrp="1"/>
          </p:cNvSpPr>
          <p:nvPr/>
        </p:nvSpPr>
        <p:spPr>
          <a:xfrm>
            <a:off x="6191250" y="4333875"/>
            <a:ext cx="57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400" b="0">
                <a:solidFill>
                  <a:srgbClr val="29A9FF"/>
                </a:solidFill>
              </a:defRPr>
            </a:pPr>
            <a:r>
              <a:rPr sz="2400" b="0">
                <a:solidFill>
                  <a:srgbClr val="29A9FF"/>
                </a:solidFill>
              </a:rPr>
              <a:t>→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9C0CE5-7579-446F-A384-30BBA277D284}"/>
              </a:ext>
            </a:extLst>
          </p:cNvPr>
          <p:cNvSpPr>
            <a:spLocks noGrp="1"/>
          </p:cNvSpPr>
          <p:nvPr/>
        </p:nvSpPr>
        <p:spPr>
          <a:xfrm>
            <a:off x="7000875" y="4333875"/>
            <a:ext cx="1809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75" b="1">
                <a:solidFill>
                  <a:srgbClr val="F4F7FB"/>
                </a:solidFill>
              </a:defRPr>
            </a:pPr>
            <a:r>
              <a:rPr sz="2175" b="1">
                <a:solidFill>
                  <a:srgbClr val="F4F7FB"/>
                </a:solidFill>
              </a:rPr>
              <a:t>rₜ , sₜ₊₁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A60CA9-9113-483D-999F-2570DF90CDED}"/>
              </a:ext>
            </a:extLst>
          </p:cNvPr>
          <p:cNvSpPr>
            <a:spLocks noGrp="1"/>
          </p:cNvSpPr>
          <p:nvPr/>
        </p:nvSpPr>
        <p:spPr>
          <a:xfrm>
            <a:off x="8953500" y="4333875"/>
            <a:ext cx="57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400" b="0">
                <a:solidFill>
                  <a:srgbClr val="29A9FF"/>
                </a:solidFill>
              </a:defRPr>
            </a:pPr>
            <a:r>
              <a:rPr sz="2400" b="0">
                <a:solidFill>
                  <a:srgbClr val="29A9FF"/>
                </a:solidFill>
              </a:rPr>
              <a:t>→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1E24B1-1C1B-45E6-97E2-5A7AE4BC9D46}"/>
              </a:ext>
            </a:extLst>
          </p:cNvPr>
          <p:cNvSpPr>
            <a:spLocks noGrp="1"/>
          </p:cNvSpPr>
          <p:nvPr/>
        </p:nvSpPr>
        <p:spPr>
          <a:xfrm>
            <a:off x="9810750" y="4333875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00F0C8"/>
                </a:solidFill>
              </a:defRPr>
            </a:pPr>
            <a:r>
              <a:rPr sz="2550" b="1">
                <a:solidFill>
                  <a:srgbClr val="00F0C8"/>
                </a:solidFill>
              </a:rPr>
              <a:t>δₜ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BD5038D-E13F-4FC8-9B74-453A7E0C926D}"/>
              </a:ext>
            </a:extLst>
          </p:cNvPr>
          <p:cNvSpPr>
            <a:spLocks noGrp="1"/>
          </p:cNvSpPr>
          <p:nvPr/>
        </p:nvSpPr>
        <p:spPr>
          <a:xfrm>
            <a:off x="762000" y="5334000"/>
            <a:ext cx="38100" cy="647700"/>
          </a:xfrm>
          <a:prstGeom prst="rect">
            <a:avLst/>
          </a:prstGeom>
          <a:solidFill>
            <a:srgbClr val="00F0C8"/>
          </a:solidFill>
          <a:ln w="0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F50A14-6FDF-4A5A-B96F-F32CAA0ED6C1}"/>
              </a:ext>
            </a:extLst>
          </p:cNvPr>
          <p:cNvSpPr>
            <a:spLocks noGrp="1"/>
          </p:cNvSpPr>
          <p:nvPr/>
        </p:nvSpPr>
        <p:spPr>
          <a:xfrm>
            <a:off x="971550" y="541020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Learning means the same saved Actor can reach different targets because target position is part of its input.</a:t>
            </a:r>
          </a:p>
        </p:txBody>
      </p:sp>
    </p:spTree>
    <p:extLst>
      <p:ext uri="{BB962C8B-B14F-4D97-AF65-F5344CB8AC3E}">
        <p14:creationId xmlns:p14="http://schemas.microsoft.com/office/powerpoint/2010/main" val="993222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ection-label">
            <a:extLst>
              <a:ext uri="{FF2B5EF4-FFF2-40B4-BE49-F238E27FC236}">
                <a16:creationId xmlns:a16="http://schemas.microsoft.com/office/drawing/2014/main" id="{422FD099-9D63-4798-B75A-41BA6CE8FD94}"/>
              </a:ext>
            </a:extLst>
          </p:cNvPr>
          <p:cNvSpPr>
            <a:spLocks noGrp="1"/>
          </p:cNvSpPr>
          <p:nvPr/>
        </p:nvSpPr>
        <p:spPr>
          <a:xfrm>
            <a:off x="704850" y="323850"/>
            <a:ext cx="1504950" cy="266700"/>
          </a:xfrm>
          <a:prstGeom prst="roundRect">
            <a:avLst>
              <a:gd name="adj" fmla="val 42857"/>
            </a:avLst>
          </a:prstGeom>
          <a:solidFill>
            <a:srgbClr val="07101F"/>
          </a:solidFill>
          <a:ln w="9525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F32255-B833-4A7B-91BE-3F760855ACF8}"/>
              </a:ext>
            </a:extLst>
          </p:cNvPr>
          <p:cNvSpPr>
            <a:spLocks noGrp="1"/>
          </p:cNvSpPr>
          <p:nvPr/>
        </p:nvSpPr>
        <p:spPr>
          <a:xfrm>
            <a:off x="819150" y="3429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F0C8"/>
                </a:solidFill>
              </a:defRPr>
            </a:pPr>
            <a:r>
              <a:rPr sz="900" b="1">
                <a:solidFill>
                  <a:srgbClr val="00F0C8"/>
                </a:solidFill>
              </a:rPr>
              <a:t>— MDP DEFINITION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2872E2-E0FD-4C9F-B416-D36E4BD45B28}"/>
              </a:ext>
            </a:extLst>
          </p:cNvPr>
          <p:cNvSpPr>
            <a:spLocks noGrp="1"/>
          </p:cNvSpPr>
          <p:nvPr/>
        </p:nvSpPr>
        <p:spPr>
          <a:xfrm>
            <a:off x="11353800" y="342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F4F7FB"/>
                </a:solidFill>
              </a:defRPr>
            </a:pPr>
            <a:r>
              <a:rPr sz="975" b="1">
                <a:solidFill>
                  <a:srgbClr val="F4F7FB"/>
                </a:solidFill>
              </a:rPr>
              <a:t>04</a:t>
            </a:r>
          </a:p>
        </p:txBody>
      </p:sp>
      <p:sp>
        <p:nvSpPr>
          <p:cNvPr id="4" name="slide-4-title">
            <a:extLst>
              <a:ext uri="{FF2B5EF4-FFF2-40B4-BE49-F238E27FC236}">
                <a16:creationId xmlns:a16="http://schemas.microsoft.com/office/drawing/2014/main" id="{88FA15B1-4D01-4A52-8E88-38FA79027421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The state explicitly describes the robot and its target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887C22-854E-42C7-9D8E-D6DD29ADD261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10782300" cy="19050"/>
          </a:xfrm>
          <a:prstGeom prst="rect">
            <a:avLst/>
          </a:prstGeom>
          <a:solidFill>
            <a:srgbClr val="3A475C"/>
          </a:solidFill>
          <a:ln w="0">
            <a:solidFill>
              <a:srgbClr val="3A4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4E0D5F6-B974-47FE-9EA2-F35C3DB44295}"/>
              </a:ext>
            </a:extLst>
          </p:cNvPr>
          <p:cNvSpPr>
            <a:spLocks noGrp="1"/>
          </p:cNvSpPr>
          <p:nvPr/>
        </p:nvSpPr>
        <p:spPr>
          <a:xfrm>
            <a:off x="714375" y="1981200"/>
            <a:ext cx="10763250" cy="1000125"/>
          </a:xfrm>
          <a:prstGeom prst="roundRect">
            <a:avLst>
              <a:gd name="adj" fmla="val 11429"/>
            </a:avLst>
          </a:prstGeom>
          <a:solidFill>
            <a:srgbClr val="0B1425"/>
          </a:solidFill>
          <a:ln w="14288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BA45B3-A9CD-4B91-AE30-48AE7B3C029A}"/>
              </a:ext>
            </a:extLst>
          </p:cNvPr>
          <p:cNvSpPr>
            <a:spLocks noGrp="1"/>
          </p:cNvSpPr>
          <p:nvPr/>
        </p:nvSpPr>
        <p:spPr>
          <a:xfrm>
            <a:off x="933450" y="2171700"/>
            <a:ext cx="1028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75" b="1">
                <a:solidFill>
                  <a:srgbClr val="F4F7FB"/>
                </a:solidFill>
              </a:defRPr>
            </a:pPr>
            <a:r>
              <a:rPr sz="2175" b="1">
                <a:solidFill>
                  <a:srgbClr val="F4F7FB"/>
                </a:solidFill>
              </a:rPr>
              <a:t>State  sₜ = [ qₜ, q̇ₜ, pᵗⁱᵖₜ, pᵗᵃʳᵍᵉᵗ, Δpₜ, dₜ, hₜ ] ∈ ℝ¹⁹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1C32F43-01AD-4D34-BA03-82CEBC22ED0F}"/>
              </a:ext>
            </a:extLst>
          </p:cNvPr>
          <p:cNvSpPr>
            <a:spLocks noGrp="1"/>
          </p:cNvSpPr>
          <p:nvPr/>
        </p:nvSpPr>
        <p:spPr>
          <a:xfrm>
            <a:off x="714375" y="3219450"/>
            <a:ext cx="2381250" cy="1066800"/>
          </a:xfrm>
          <a:prstGeom prst="roundRect">
            <a:avLst>
              <a:gd name="adj" fmla="val 10714"/>
            </a:avLst>
          </a:prstGeom>
          <a:solidFill>
            <a:srgbClr val="101A2C"/>
          </a:solidFill>
          <a:ln w="11430">
            <a:solidFill>
              <a:srgbClr val="3A4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D958FF-402E-4FF8-8D84-705CBE89AD7D}"/>
              </a:ext>
            </a:extLst>
          </p:cNvPr>
          <p:cNvSpPr>
            <a:spLocks noGrp="1"/>
          </p:cNvSpPr>
          <p:nvPr/>
        </p:nvSpPr>
        <p:spPr>
          <a:xfrm>
            <a:off x="828675" y="3333750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qₜ ∈ ℝ⁴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834235-70BE-4034-9CE8-1A5222C7F2AB}"/>
              </a:ext>
            </a:extLst>
          </p:cNvPr>
          <p:cNvSpPr>
            <a:spLocks noGrp="1"/>
          </p:cNvSpPr>
          <p:nvPr/>
        </p:nvSpPr>
        <p:spPr>
          <a:xfrm>
            <a:off x="828675" y="3743325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CDD5E1"/>
                </a:solidFill>
              </a:defRPr>
            </a:pPr>
            <a:r>
              <a:rPr sz="1275" b="0">
                <a:solidFill>
                  <a:srgbClr val="CDD5E1"/>
                </a:solidFill>
              </a:rPr>
              <a:t>Controlled joint angles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61942C5-124D-4237-8BB0-B753C6992391}"/>
              </a:ext>
            </a:extLst>
          </p:cNvPr>
          <p:cNvSpPr>
            <a:spLocks noGrp="1"/>
          </p:cNvSpPr>
          <p:nvPr/>
        </p:nvSpPr>
        <p:spPr>
          <a:xfrm>
            <a:off x="3476625" y="3219450"/>
            <a:ext cx="2381250" cy="1066800"/>
          </a:xfrm>
          <a:prstGeom prst="roundRect">
            <a:avLst>
              <a:gd name="adj" fmla="val 10714"/>
            </a:avLst>
          </a:prstGeom>
          <a:solidFill>
            <a:srgbClr val="101A2C"/>
          </a:solidFill>
          <a:ln w="11430">
            <a:solidFill>
              <a:srgbClr val="3A4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669640-A701-4403-900D-FAFF0824ECE5}"/>
              </a:ext>
            </a:extLst>
          </p:cNvPr>
          <p:cNvSpPr>
            <a:spLocks noGrp="1"/>
          </p:cNvSpPr>
          <p:nvPr/>
        </p:nvSpPr>
        <p:spPr>
          <a:xfrm>
            <a:off x="3590925" y="3333750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q̇ₜ ∈ ℝ⁴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599CBA-7AB3-4350-9BE1-A01970EEF854}"/>
              </a:ext>
            </a:extLst>
          </p:cNvPr>
          <p:cNvSpPr>
            <a:spLocks noGrp="1"/>
          </p:cNvSpPr>
          <p:nvPr/>
        </p:nvSpPr>
        <p:spPr>
          <a:xfrm>
            <a:off x="3590925" y="3743325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CDD5E1"/>
                </a:solidFill>
              </a:defRPr>
            </a:pPr>
            <a:r>
              <a:rPr sz="1275" b="0">
                <a:solidFill>
                  <a:srgbClr val="CDD5E1"/>
                </a:solidFill>
              </a:rPr>
              <a:t>Controlled joint velocities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A0538EA-A479-43A6-9589-3C8B745E09A0}"/>
              </a:ext>
            </a:extLst>
          </p:cNvPr>
          <p:cNvSpPr>
            <a:spLocks noGrp="1"/>
          </p:cNvSpPr>
          <p:nvPr/>
        </p:nvSpPr>
        <p:spPr>
          <a:xfrm>
            <a:off x="6238875" y="3219450"/>
            <a:ext cx="2381250" cy="1066800"/>
          </a:xfrm>
          <a:prstGeom prst="roundRect">
            <a:avLst>
              <a:gd name="adj" fmla="val 10714"/>
            </a:avLst>
          </a:prstGeom>
          <a:solidFill>
            <a:srgbClr val="101A2C"/>
          </a:solidFill>
          <a:ln w="11430">
            <a:solidFill>
              <a:srgbClr val="3A4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364609-E24D-49DE-BE27-33FD5DCDF037}"/>
              </a:ext>
            </a:extLst>
          </p:cNvPr>
          <p:cNvSpPr>
            <a:spLocks noGrp="1"/>
          </p:cNvSpPr>
          <p:nvPr/>
        </p:nvSpPr>
        <p:spPr>
          <a:xfrm>
            <a:off x="6353175" y="3333750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pᵗⁱᵖ, pᵗᵃʳᵍᵉᵗ ∈ ℝ³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83C68B-D3ED-4CB1-AC2B-37A566E1612D}"/>
              </a:ext>
            </a:extLst>
          </p:cNvPr>
          <p:cNvSpPr>
            <a:spLocks noGrp="1"/>
          </p:cNvSpPr>
          <p:nvPr/>
        </p:nvSpPr>
        <p:spPr>
          <a:xfrm>
            <a:off x="6353175" y="3743325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CDD5E1"/>
                </a:solidFill>
              </a:defRPr>
            </a:pPr>
            <a:r>
              <a:rPr sz="1275" b="0">
                <a:solidFill>
                  <a:srgbClr val="CDD5E1"/>
                </a:solidFill>
              </a:rPr>
              <a:t>Fingertip and blue-target positions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4DFD9ED-4F75-4780-BA52-CF01BC80ADB7}"/>
              </a:ext>
            </a:extLst>
          </p:cNvPr>
          <p:cNvSpPr>
            <a:spLocks noGrp="1"/>
          </p:cNvSpPr>
          <p:nvPr/>
        </p:nvSpPr>
        <p:spPr>
          <a:xfrm>
            <a:off x="9001125" y="3219450"/>
            <a:ext cx="2381250" cy="1066800"/>
          </a:xfrm>
          <a:prstGeom prst="roundRect">
            <a:avLst>
              <a:gd name="adj" fmla="val 10714"/>
            </a:avLst>
          </a:prstGeom>
          <a:solidFill>
            <a:srgbClr val="101A2C"/>
          </a:solidFill>
          <a:ln w="11430">
            <a:solidFill>
              <a:srgbClr val="3A4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44B991-A133-4A8B-9032-CF43E3457AD6}"/>
              </a:ext>
            </a:extLst>
          </p:cNvPr>
          <p:cNvSpPr>
            <a:spLocks noGrp="1"/>
          </p:cNvSpPr>
          <p:nvPr/>
        </p:nvSpPr>
        <p:spPr>
          <a:xfrm>
            <a:off x="9115425" y="3333750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Δpₜ ∈ ℝ³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380309-DA76-4649-9FDE-1C3FA222CDFD}"/>
              </a:ext>
            </a:extLst>
          </p:cNvPr>
          <p:cNvSpPr>
            <a:spLocks noGrp="1"/>
          </p:cNvSpPr>
          <p:nvPr/>
        </p:nvSpPr>
        <p:spPr>
          <a:xfrm>
            <a:off x="9115425" y="3743325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CDD5E1"/>
                </a:solidFill>
              </a:defRPr>
            </a:pPr>
            <a:r>
              <a:rPr sz="1275" b="0">
                <a:solidFill>
                  <a:srgbClr val="CDD5E1"/>
                </a:solidFill>
              </a:rPr>
              <a:t>Target minus fingertip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1DA67AC-B856-4691-A566-AB560FCEFA0C}"/>
              </a:ext>
            </a:extLst>
          </p:cNvPr>
          <p:cNvSpPr>
            <a:spLocks noGrp="1"/>
          </p:cNvSpPr>
          <p:nvPr/>
        </p:nvSpPr>
        <p:spPr>
          <a:xfrm>
            <a:off x="2095500" y="4619625"/>
            <a:ext cx="3714750" cy="1066800"/>
          </a:xfrm>
          <a:prstGeom prst="roundRect">
            <a:avLst>
              <a:gd name="adj" fmla="val 10714"/>
            </a:avLst>
          </a:prstGeom>
          <a:solidFill>
            <a:srgbClr val="101A2C"/>
          </a:solidFill>
          <a:ln w="11430">
            <a:solidFill>
              <a:srgbClr val="29A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26A373-6568-49FD-A73B-8000F201942C}"/>
              </a:ext>
            </a:extLst>
          </p:cNvPr>
          <p:cNvSpPr>
            <a:spLocks noGrp="1"/>
          </p:cNvSpPr>
          <p:nvPr/>
        </p:nvSpPr>
        <p:spPr>
          <a:xfrm>
            <a:off x="2209800" y="4733925"/>
            <a:ext cx="3486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dₜ = ‖Δpₜ‖₂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0D4106-12A9-4B86-8C17-5B20B27DE40E}"/>
              </a:ext>
            </a:extLst>
          </p:cNvPr>
          <p:cNvSpPr>
            <a:spLocks noGrp="1"/>
          </p:cNvSpPr>
          <p:nvPr/>
        </p:nvSpPr>
        <p:spPr>
          <a:xfrm>
            <a:off x="2209800" y="5143500"/>
            <a:ext cx="3486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CDD5E1"/>
                </a:solidFill>
              </a:defRPr>
            </a:pPr>
            <a:r>
              <a:rPr sz="1275" b="0">
                <a:solidFill>
                  <a:srgbClr val="CDD5E1"/>
                </a:solidFill>
              </a:rPr>
              <a:t>Euclidean fingertip distance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F22AD7C-261D-4503-AC7F-6123256C86F3}"/>
              </a:ext>
            </a:extLst>
          </p:cNvPr>
          <p:cNvSpPr>
            <a:spLocks noGrp="1"/>
          </p:cNvSpPr>
          <p:nvPr/>
        </p:nvSpPr>
        <p:spPr>
          <a:xfrm>
            <a:off x="6334125" y="4619625"/>
            <a:ext cx="3714750" cy="1066800"/>
          </a:xfrm>
          <a:prstGeom prst="roundRect">
            <a:avLst>
              <a:gd name="adj" fmla="val 10714"/>
            </a:avLst>
          </a:prstGeom>
          <a:solidFill>
            <a:srgbClr val="101A2C"/>
          </a:solidFill>
          <a:ln w="11430">
            <a:solidFill>
              <a:srgbClr val="29A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E284E3-50E1-4485-BCC0-8929283FF3EF}"/>
              </a:ext>
            </a:extLst>
          </p:cNvPr>
          <p:cNvSpPr>
            <a:spLocks noGrp="1"/>
          </p:cNvSpPr>
          <p:nvPr/>
        </p:nvSpPr>
        <p:spPr>
          <a:xfrm>
            <a:off x="6448425" y="4733925"/>
            <a:ext cx="3486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hₜ ∈ [0,1]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E42C73-F9EC-4A94-BC9E-7F9160587C31}"/>
              </a:ext>
            </a:extLst>
          </p:cNvPr>
          <p:cNvSpPr>
            <a:spLocks noGrp="1"/>
          </p:cNvSpPr>
          <p:nvPr/>
        </p:nvSpPr>
        <p:spPr>
          <a:xfrm>
            <a:off x="6448425" y="5143500"/>
            <a:ext cx="3486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CDD5E1"/>
                </a:solidFill>
              </a:defRPr>
            </a:pPr>
            <a:r>
              <a:rPr sz="1275" b="0">
                <a:solidFill>
                  <a:srgbClr val="CDD5E1"/>
                </a:solidFill>
              </a:rPr>
              <a:t>Normalized touch-hold progress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6B11431-27AD-477E-92B0-67C40D5BA41C}"/>
              </a:ext>
            </a:extLst>
          </p:cNvPr>
          <p:cNvSpPr>
            <a:spLocks noGrp="1"/>
          </p:cNvSpPr>
          <p:nvPr/>
        </p:nvSpPr>
        <p:spPr>
          <a:xfrm>
            <a:off x="714375" y="5981700"/>
            <a:ext cx="38100" cy="428625"/>
          </a:xfrm>
          <a:prstGeom prst="rect">
            <a:avLst/>
          </a:prstGeom>
          <a:solidFill>
            <a:srgbClr val="00F0C8"/>
          </a:solidFill>
          <a:ln w="0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D4EAE8-BA0C-4034-B485-62935BBDE742}"/>
              </a:ext>
            </a:extLst>
          </p:cNvPr>
          <p:cNvSpPr>
            <a:spLocks noGrp="1"/>
          </p:cNvSpPr>
          <p:nvPr/>
        </p:nvSpPr>
        <p:spPr>
          <a:xfrm>
            <a:off x="933450" y="6010275"/>
            <a:ext cx="1009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Including pᵗᵃʳᵍᵉᵗ and Δpₜ is what lets the policy react when the blue target moves.</a:t>
            </a:r>
          </a:p>
        </p:txBody>
      </p:sp>
    </p:spTree>
    <p:extLst>
      <p:ext uri="{BB962C8B-B14F-4D97-AF65-F5344CB8AC3E}">
        <p14:creationId xmlns:p14="http://schemas.microsoft.com/office/powerpoint/2010/main" val="1677203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ection-label">
            <a:extLst>
              <a:ext uri="{FF2B5EF4-FFF2-40B4-BE49-F238E27FC236}">
                <a16:creationId xmlns:a16="http://schemas.microsoft.com/office/drawing/2014/main" id="{E3CBCF56-1EB0-438C-8D96-64F035ED37EC}"/>
              </a:ext>
            </a:extLst>
          </p:cNvPr>
          <p:cNvSpPr>
            <a:spLocks noGrp="1"/>
          </p:cNvSpPr>
          <p:nvPr/>
        </p:nvSpPr>
        <p:spPr>
          <a:xfrm>
            <a:off x="704850" y="323850"/>
            <a:ext cx="2533650" cy="266700"/>
          </a:xfrm>
          <a:prstGeom prst="roundRect">
            <a:avLst>
              <a:gd name="adj" fmla="val 42857"/>
            </a:avLst>
          </a:prstGeom>
          <a:solidFill>
            <a:srgbClr val="07101F"/>
          </a:solidFill>
          <a:ln w="9525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A60F36-7EB6-4899-B8EA-AF1B5E8BCFF7}"/>
              </a:ext>
            </a:extLst>
          </p:cNvPr>
          <p:cNvSpPr>
            <a:spLocks noGrp="1"/>
          </p:cNvSpPr>
          <p:nvPr/>
        </p:nvSpPr>
        <p:spPr>
          <a:xfrm>
            <a:off x="819150" y="3429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F0C8"/>
                </a:solidFill>
              </a:defRPr>
            </a:pPr>
            <a:r>
              <a:rPr sz="900" b="1">
                <a:solidFill>
                  <a:srgbClr val="00F0C8"/>
                </a:solidFill>
              </a:rPr>
              <a:t>— ACTOR-CRITIC LEARNING LOOP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91F40B-69CA-4A00-B7FC-6E651081F3C8}"/>
              </a:ext>
            </a:extLst>
          </p:cNvPr>
          <p:cNvSpPr>
            <a:spLocks noGrp="1"/>
          </p:cNvSpPr>
          <p:nvPr/>
        </p:nvSpPr>
        <p:spPr>
          <a:xfrm>
            <a:off x="11353800" y="342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F4F7FB"/>
                </a:solidFill>
              </a:defRPr>
            </a:pPr>
            <a:r>
              <a:rPr sz="975" b="1">
                <a:solidFill>
                  <a:srgbClr val="F4F7FB"/>
                </a:solidFill>
              </a:rPr>
              <a:t>05</a:t>
            </a:r>
          </a:p>
        </p:txBody>
      </p:sp>
      <p:sp>
        <p:nvSpPr>
          <p:cNvPr id="4" name="slide-5-title">
            <a:extLst>
              <a:ext uri="{FF2B5EF4-FFF2-40B4-BE49-F238E27FC236}">
                <a16:creationId xmlns:a16="http://schemas.microsoft.com/office/drawing/2014/main" id="{301000DA-B677-4A2C-8246-F1BE46505B0E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Actor and Critic improve together through PPO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25DFF6-E505-45CA-967A-889CE0851F0E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10782300" cy="19050"/>
          </a:xfrm>
          <a:prstGeom prst="rect">
            <a:avLst/>
          </a:prstGeom>
          <a:solidFill>
            <a:srgbClr val="3A475C"/>
          </a:solidFill>
          <a:ln w="0">
            <a:solidFill>
              <a:srgbClr val="3A4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9A5DDE5-BEFC-4EF1-B5FF-07786C77F9C6}"/>
              </a:ext>
            </a:extLst>
          </p:cNvPr>
          <p:cNvSpPr>
            <a:spLocks noGrp="1"/>
          </p:cNvSpPr>
          <p:nvPr/>
        </p:nvSpPr>
        <p:spPr>
          <a:xfrm>
            <a:off x="762000" y="2524125"/>
            <a:ext cx="1809750" cy="1381125"/>
          </a:xfrm>
          <a:prstGeom prst="roundRect">
            <a:avLst>
              <a:gd name="adj" fmla="val 8276"/>
            </a:avLst>
          </a:prstGeom>
          <a:solidFill>
            <a:srgbClr val="0B1425"/>
          </a:solidFill>
          <a:ln w="19050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66152A-22EE-4D28-94ED-3E556C360ECC}"/>
              </a:ext>
            </a:extLst>
          </p:cNvPr>
          <p:cNvSpPr>
            <a:spLocks noGrp="1"/>
          </p:cNvSpPr>
          <p:nvPr/>
        </p:nvSpPr>
        <p:spPr>
          <a:xfrm>
            <a:off x="895350" y="2695575"/>
            <a:ext cx="1543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State sₜ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DCB245-CBE1-449B-A144-93E2670E7917}"/>
              </a:ext>
            </a:extLst>
          </p:cNvPr>
          <p:cNvSpPr>
            <a:spLocks noGrp="1"/>
          </p:cNvSpPr>
          <p:nvPr/>
        </p:nvSpPr>
        <p:spPr>
          <a:xfrm>
            <a:off x="895350" y="3209925"/>
            <a:ext cx="15430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CDD5E1"/>
                </a:solidFill>
              </a:defRPr>
            </a:pPr>
            <a:r>
              <a:rPr sz="1275" b="0">
                <a:solidFill>
                  <a:srgbClr val="CDD5E1"/>
                </a:solidFill>
              </a:rPr>
              <a:t>19-value observation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B6CBC7A-0B62-4F20-A8A6-321FDFA2E90D}"/>
              </a:ext>
            </a:extLst>
          </p:cNvPr>
          <p:cNvSpPr>
            <a:spLocks noGrp="1"/>
          </p:cNvSpPr>
          <p:nvPr/>
        </p:nvSpPr>
        <p:spPr>
          <a:xfrm>
            <a:off x="3000375" y="2524125"/>
            <a:ext cx="1809750" cy="1381125"/>
          </a:xfrm>
          <a:prstGeom prst="roundRect">
            <a:avLst>
              <a:gd name="adj" fmla="val 8276"/>
            </a:avLst>
          </a:prstGeom>
          <a:solidFill>
            <a:srgbClr val="0B1425"/>
          </a:solidFill>
          <a:ln w="19050">
            <a:solidFill>
              <a:srgbClr val="29A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15A7C4-FDE7-4B8D-90D1-BD9B700FF8FB}"/>
              </a:ext>
            </a:extLst>
          </p:cNvPr>
          <p:cNvSpPr>
            <a:spLocks noGrp="1"/>
          </p:cNvSpPr>
          <p:nvPr/>
        </p:nvSpPr>
        <p:spPr>
          <a:xfrm>
            <a:off x="3133725" y="2695575"/>
            <a:ext cx="1543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Actor πθ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FDA3A8-EF7F-4FBD-BEA7-A807670C8F69}"/>
              </a:ext>
            </a:extLst>
          </p:cNvPr>
          <p:cNvSpPr>
            <a:spLocks noGrp="1"/>
          </p:cNvSpPr>
          <p:nvPr/>
        </p:nvSpPr>
        <p:spPr>
          <a:xfrm>
            <a:off x="3133725" y="3209925"/>
            <a:ext cx="15430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CDD5E1"/>
                </a:solidFill>
              </a:defRPr>
            </a:pPr>
            <a:r>
              <a:rPr sz="1275" b="0">
                <a:solidFill>
                  <a:srgbClr val="CDD5E1"/>
                </a:solidFill>
              </a:rPr>
              <a:t>selects action aₜ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0AEA2BF-D9FB-49B4-B9AD-7439C090A375}"/>
              </a:ext>
            </a:extLst>
          </p:cNvPr>
          <p:cNvSpPr>
            <a:spLocks noGrp="1"/>
          </p:cNvSpPr>
          <p:nvPr/>
        </p:nvSpPr>
        <p:spPr>
          <a:xfrm>
            <a:off x="5238750" y="2524125"/>
            <a:ext cx="1809750" cy="1381125"/>
          </a:xfrm>
          <a:prstGeom prst="roundRect">
            <a:avLst>
              <a:gd name="adj" fmla="val 8276"/>
            </a:avLst>
          </a:prstGeom>
          <a:solidFill>
            <a:srgbClr val="0B1425"/>
          </a:solidFill>
          <a:ln w="19050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BC7B92-4FB1-405B-BD63-E27C52892AE7}"/>
              </a:ext>
            </a:extLst>
          </p:cNvPr>
          <p:cNvSpPr>
            <a:spLocks noGrp="1"/>
          </p:cNvSpPr>
          <p:nvPr/>
        </p:nvSpPr>
        <p:spPr>
          <a:xfrm>
            <a:off x="5372100" y="2695575"/>
            <a:ext cx="1543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MuJoCo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B015D1-1395-4005-BA6D-F61FB4851137}"/>
              </a:ext>
            </a:extLst>
          </p:cNvPr>
          <p:cNvSpPr>
            <a:spLocks noGrp="1"/>
          </p:cNvSpPr>
          <p:nvPr/>
        </p:nvSpPr>
        <p:spPr>
          <a:xfrm>
            <a:off x="5372100" y="3209925"/>
            <a:ext cx="15430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CDD5E1"/>
                </a:solidFill>
              </a:defRPr>
            </a:pPr>
            <a:r>
              <a:rPr sz="1275" b="0">
                <a:solidFill>
                  <a:srgbClr val="CDD5E1"/>
                </a:solidFill>
              </a:rPr>
              <a:t>returns rₜ, sₜ₊₁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353FEDC-B936-45E0-9004-68DB16A7C462}"/>
              </a:ext>
            </a:extLst>
          </p:cNvPr>
          <p:cNvSpPr>
            <a:spLocks noGrp="1"/>
          </p:cNvSpPr>
          <p:nvPr/>
        </p:nvSpPr>
        <p:spPr>
          <a:xfrm>
            <a:off x="7477125" y="2524125"/>
            <a:ext cx="1809750" cy="1381125"/>
          </a:xfrm>
          <a:prstGeom prst="roundRect">
            <a:avLst>
              <a:gd name="adj" fmla="val 8276"/>
            </a:avLst>
          </a:prstGeom>
          <a:solidFill>
            <a:srgbClr val="0B1425"/>
          </a:solidFill>
          <a:ln w="19050">
            <a:solidFill>
              <a:srgbClr val="29A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7CCF70-6FE0-49FF-8899-D0AE9924400A}"/>
              </a:ext>
            </a:extLst>
          </p:cNvPr>
          <p:cNvSpPr>
            <a:spLocks noGrp="1"/>
          </p:cNvSpPr>
          <p:nvPr/>
        </p:nvSpPr>
        <p:spPr>
          <a:xfrm>
            <a:off x="7610475" y="2695575"/>
            <a:ext cx="1543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Critic Vφ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70A920-7294-4CB9-A1CC-99F092797057}"/>
              </a:ext>
            </a:extLst>
          </p:cNvPr>
          <p:cNvSpPr>
            <a:spLocks noGrp="1"/>
          </p:cNvSpPr>
          <p:nvPr/>
        </p:nvSpPr>
        <p:spPr>
          <a:xfrm>
            <a:off x="7610475" y="3209925"/>
            <a:ext cx="15430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CDD5E1"/>
                </a:solidFill>
              </a:defRPr>
            </a:pPr>
            <a:r>
              <a:rPr sz="1275" b="0">
                <a:solidFill>
                  <a:srgbClr val="CDD5E1"/>
                </a:solidFill>
              </a:rPr>
              <a:t>estimates state value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34A3B16-C19F-41AD-A34E-8B241007A9BE}"/>
              </a:ext>
            </a:extLst>
          </p:cNvPr>
          <p:cNvSpPr>
            <a:spLocks noGrp="1"/>
          </p:cNvSpPr>
          <p:nvPr/>
        </p:nvSpPr>
        <p:spPr>
          <a:xfrm>
            <a:off x="9715500" y="2524125"/>
            <a:ext cx="1809750" cy="1381125"/>
          </a:xfrm>
          <a:prstGeom prst="roundRect">
            <a:avLst>
              <a:gd name="adj" fmla="val 8276"/>
            </a:avLst>
          </a:prstGeom>
          <a:solidFill>
            <a:srgbClr val="0B1425"/>
          </a:solidFill>
          <a:ln w="19050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BA5147-3A53-4392-905A-638714872D15}"/>
              </a:ext>
            </a:extLst>
          </p:cNvPr>
          <p:cNvSpPr>
            <a:spLocks noGrp="1"/>
          </p:cNvSpPr>
          <p:nvPr/>
        </p:nvSpPr>
        <p:spPr>
          <a:xfrm>
            <a:off x="9848850" y="2695575"/>
            <a:ext cx="1543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PPO update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7BA059-854C-4309-BA2D-8731F03470B2}"/>
              </a:ext>
            </a:extLst>
          </p:cNvPr>
          <p:cNvSpPr>
            <a:spLocks noGrp="1"/>
          </p:cNvSpPr>
          <p:nvPr/>
        </p:nvSpPr>
        <p:spPr>
          <a:xfrm>
            <a:off x="9848850" y="3209925"/>
            <a:ext cx="15430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CDD5E1"/>
                </a:solidFill>
              </a:defRPr>
            </a:pPr>
            <a:r>
              <a:rPr sz="1275" b="0">
                <a:solidFill>
                  <a:srgbClr val="CDD5E1"/>
                </a:solidFill>
              </a:rPr>
              <a:t>improves θ and φ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8D3F90-FF84-435C-9167-1BDE419C3886}"/>
              </a:ext>
            </a:extLst>
          </p:cNvPr>
          <p:cNvSpPr>
            <a:spLocks noGrp="1"/>
          </p:cNvSpPr>
          <p:nvPr/>
        </p:nvSpPr>
        <p:spPr>
          <a:xfrm>
            <a:off x="2571750" y="2905125"/>
            <a:ext cx="428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550" b="0">
                <a:solidFill>
                  <a:srgbClr val="F4F7FB"/>
                </a:solidFill>
              </a:defRPr>
            </a:pPr>
            <a:r>
              <a:rPr sz="2550" b="0">
                <a:solidFill>
                  <a:srgbClr val="F4F7FB"/>
                </a:solidFill>
              </a:rPr>
              <a:t>→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71E5F9-08EC-42BB-8829-07E49C4BC3EB}"/>
              </a:ext>
            </a:extLst>
          </p:cNvPr>
          <p:cNvSpPr>
            <a:spLocks noGrp="1"/>
          </p:cNvSpPr>
          <p:nvPr/>
        </p:nvSpPr>
        <p:spPr>
          <a:xfrm>
            <a:off x="4810125" y="2905125"/>
            <a:ext cx="428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550" b="0">
                <a:solidFill>
                  <a:srgbClr val="F4F7FB"/>
                </a:solidFill>
              </a:defRPr>
            </a:pPr>
            <a:r>
              <a:rPr sz="2550" b="0">
                <a:solidFill>
                  <a:srgbClr val="F4F7FB"/>
                </a:solidFill>
              </a:rPr>
              <a:t>→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6E964B-3CA8-4A37-859C-E670D154AE43}"/>
              </a:ext>
            </a:extLst>
          </p:cNvPr>
          <p:cNvSpPr>
            <a:spLocks noGrp="1"/>
          </p:cNvSpPr>
          <p:nvPr/>
        </p:nvSpPr>
        <p:spPr>
          <a:xfrm>
            <a:off x="7048500" y="2905125"/>
            <a:ext cx="428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550" b="0">
                <a:solidFill>
                  <a:srgbClr val="F4F7FB"/>
                </a:solidFill>
              </a:defRPr>
            </a:pPr>
            <a:r>
              <a:rPr sz="2550" b="0">
                <a:solidFill>
                  <a:srgbClr val="F4F7FB"/>
                </a:solidFill>
              </a:rPr>
              <a:t>→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BAC219-6992-4EAD-AF7F-166D8E6C4FF4}"/>
              </a:ext>
            </a:extLst>
          </p:cNvPr>
          <p:cNvSpPr>
            <a:spLocks noGrp="1"/>
          </p:cNvSpPr>
          <p:nvPr/>
        </p:nvSpPr>
        <p:spPr>
          <a:xfrm>
            <a:off x="9286875" y="2905125"/>
            <a:ext cx="428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550" b="0">
                <a:solidFill>
                  <a:srgbClr val="F4F7FB"/>
                </a:solidFill>
              </a:defRPr>
            </a:pPr>
            <a:r>
              <a:rPr sz="2550" b="0">
                <a:solidFill>
                  <a:srgbClr val="F4F7FB"/>
                </a:solidFill>
              </a:rPr>
              <a:t>→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92022A1-C725-4F8F-955A-E56AB2C52444}"/>
              </a:ext>
            </a:extLst>
          </p:cNvPr>
          <p:cNvSpPr>
            <a:spLocks noGrp="1"/>
          </p:cNvSpPr>
          <p:nvPr/>
        </p:nvSpPr>
        <p:spPr>
          <a:xfrm>
            <a:off x="1714500" y="4429125"/>
            <a:ext cx="3810000" cy="1066800"/>
          </a:xfrm>
          <a:prstGeom prst="roundRect">
            <a:avLst>
              <a:gd name="adj" fmla="val 10714"/>
            </a:avLst>
          </a:prstGeom>
          <a:solidFill>
            <a:srgbClr val="101A2C"/>
          </a:solidFill>
          <a:ln w="14288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0F9808-660A-4FCC-A2E1-54472BF81A8B}"/>
              </a:ext>
            </a:extLst>
          </p:cNvPr>
          <p:cNvSpPr>
            <a:spLocks noGrp="1"/>
          </p:cNvSpPr>
          <p:nvPr/>
        </p:nvSpPr>
        <p:spPr>
          <a:xfrm>
            <a:off x="1905000" y="4543425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Training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5961D0C-FAC2-4D5D-B8C8-773F6F27D6B6}"/>
              </a:ext>
            </a:extLst>
          </p:cNvPr>
          <p:cNvSpPr>
            <a:spLocks noGrp="1"/>
          </p:cNvSpPr>
          <p:nvPr/>
        </p:nvSpPr>
        <p:spPr>
          <a:xfrm>
            <a:off x="1905000" y="4914900"/>
            <a:ext cx="333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CDD5E1"/>
                </a:solidFill>
              </a:defRPr>
            </a:pPr>
            <a:r>
              <a:rPr sz="1350" b="0">
                <a:solidFill>
                  <a:srgbClr val="CDD5E1"/>
                </a:solidFill>
              </a:rPr>
              <a:t>Stochastic Gaussian actions</a:t>
            </a:r>
          </a:p>
          <a:p>
            <a:pPr algn="l">
              <a:defRPr sz="1350" b="0">
                <a:solidFill>
                  <a:srgbClr val="CDD5E1"/>
                </a:solidFill>
              </a:defRPr>
            </a:pPr>
            <a:r>
              <a:rPr sz="1350" b="0">
                <a:solidFill>
                  <a:srgbClr val="CDD5E1"/>
                </a:solidFill>
              </a:rPr>
              <a:t>PPO clipped policy update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D524384-B7A0-4B43-AC50-43BFF3F3A623}"/>
              </a:ext>
            </a:extLst>
          </p:cNvPr>
          <p:cNvSpPr>
            <a:spLocks noGrp="1"/>
          </p:cNvSpPr>
          <p:nvPr/>
        </p:nvSpPr>
        <p:spPr>
          <a:xfrm>
            <a:off x="6667500" y="4429125"/>
            <a:ext cx="3810000" cy="1066800"/>
          </a:xfrm>
          <a:prstGeom prst="roundRect">
            <a:avLst>
              <a:gd name="adj" fmla="val 10714"/>
            </a:avLst>
          </a:prstGeom>
          <a:solidFill>
            <a:srgbClr val="101A2C"/>
          </a:solidFill>
          <a:ln w="14288">
            <a:solidFill>
              <a:srgbClr val="29A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A01AB9-3F70-4C0E-A633-8A5000D1004B}"/>
              </a:ext>
            </a:extLst>
          </p:cNvPr>
          <p:cNvSpPr>
            <a:spLocks noGrp="1"/>
          </p:cNvSpPr>
          <p:nvPr/>
        </p:nvSpPr>
        <p:spPr>
          <a:xfrm>
            <a:off x="6858000" y="4543425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Evaluation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57C7142-9660-4E13-9A81-33F6546EB2EE}"/>
              </a:ext>
            </a:extLst>
          </p:cNvPr>
          <p:cNvSpPr>
            <a:spLocks noGrp="1"/>
          </p:cNvSpPr>
          <p:nvPr/>
        </p:nvSpPr>
        <p:spPr>
          <a:xfrm>
            <a:off x="6858000" y="4914900"/>
            <a:ext cx="333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CDD5E1"/>
                </a:solidFill>
              </a:defRPr>
            </a:pPr>
            <a:r>
              <a:rPr sz="1350" b="0">
                <a:solidFill>
                  <a:srgbClr val="CDD5E1"/>
                </a:solidFill>
              </a:rPr>
              <a:t>Deterministic Actor mean</a:t>
            </a:r>
          </a:p>
          <a:p>
            <a:pPr algn="l">
              <a:defRPr sz="1350" b="0">
                <a:solidFill>
                  <a:srgbClr val="CDD5E1"/>
                </a:solidFill>
              </a:defRPr>
            </a:pPr>
            <a:r>
              <a:rPr sz="1350" b="0">
                <a:solidFill>
                  <a:srgbClr val="CDD5E1"/>
                </a:solidFill>
              </a:rPr>
              <a:t>No exploration and no retraining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84941EB-8DB0-44C0-AB0E-0A2796C0683C}"/>
              </a:ext>
            </a:extLst>
          </p:cNvPr>
          <p:cNvSpPr>
            <a:spLocks noGrp="1"/>
          </p:cNvSpPr>
          <p:nvPr/>
        </p:nvSpPr>
        <p:spPr>
          <a:xfrm>
            <a:off x="762000" y="5857875"/>
            <a:ext cx="38100" cy="476250"/>
          </a:xfrm>
          <a:prstGeom prst="rect">
            <a:avLst/>
          </a:prstGeom>
          <a:solidFill>
            <a:srgbClr val="00F0C8"/>
          </a:solidFill>
          <a:ln w="0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5759681-0F9D-4B17-90F2-0529B060C3F3}"/>
              </a:ext>
            </a:extLst>
          </p:cNvPr>
          <p:cNvSpPr>
            <a:spLocks noGrp="1"/>
          </p:cNvSpPr>
          <p:nvPr/>
        </p:nvSpPr>
        <p:spPr>
          <a:xfrm>
            <a:off x="971550" y="5895975"/>
            <a:ext cx="1009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The Actor chooses actions; the Critic supplies the learning signal. They are not DQN online and target networks.</a:t>
            </a:r>
          </a:p>
        </p:txBody>
      </p:sp>
    </p:spTree>
    <p:extLst>
      <p:ext uri="{BB962C8B-B14F-4D97-AF65-F5344CB8AC3E}">
        <p14:creationId xmlns:p14="http://schemas.microsoft.com/office/powerpoint/2010/main" val="2078507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ction-label">
            <a:extLst>
              <a:ext uri="{FF2B5EF4-FFF2-40B4-BE49-F238E27FC236}">
                <a16:creationId xmlns:a16="http://schemas.microsoft.com/office/drawing/2014/main" id="{ECAE7455-4C40-4B86-BCC2-10C037BBA37E}"/>
              </a:ext>
            </a:extLst>
          </p:cNvPr>
          <p:cNvSpPr>
            <a:spLocks noGrp="1"/>
          </p:cNvSpPr>
          <p:nvPr/>
        </p:nvSpPr>
        <p:spPr>
          <a:xfrm>
            <a:off x="704850" y="323850"/>
            <a:ext cx="1428750" cy="266700"/>
          </a:xfrm>
          <a:prstGeom prst="roundRect">
            <a:avLst>
              <a:gd name="adj" fmla="val 42857"/>
            </a:avLst>
          </a:prstGeom>
          <a:solidFill>
            <a:srgbClr val="07101F"/>
          </a:solidFill>
          <a:ln w="9525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664AB2-442F-468E-BD56-02391EB6AD94}"/>
              </a:ext>
            </a:extLst>
          </p:cNvPr>
          <p:cNvSpPr>
            <a:spLocks noGrp="1"/>
          </p:cNvSpPr>
          <p:nvPr/>
        </p:nvSpPr>
        <p:spPr>
          <a:xfrm>
            <a:off x="819150" y="3429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F0C8"/>
                </a:solidFill>
              </a:defRPr>
            </a:pPr>
            <a:r>
              <a:rPr sz="900" b="1">
                <a:solidFill>
                  <a:srgbClr val="00F0C8"/>
                </a:solidFill>
              </a:rPr>
              <a:t>— MATH TO CODE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E5E702-DDD1-4ED2-A51E-DBE4F1ED2598}"/>
              </a:ext>
            </a:extLst>
          </p:cNvPr>
          <p:cNvSpPr>
            <a:spLocks noGrp="1"/>
          </p:cNvSpPr>
          <p:nvPr/>
        </p:nvSpPr>
        <p:spPr>
          <a:xfrm>
            <a:off x="11353800" y="342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F4F7FB"/>
                </a:solidFill>
              </a:defRPr>
            </a:pPr>
            <a:r>
              <a:rPr sz="975" b="1">
                <a:solidFill>
                  <a:srgbClr val="F4F7FB"/>
                </a:solidFill>
              </a:rPr>
              <a:t>06</a:t>
            </a:r>
          </a:p>
        </p:txBody>
      </p:sp>
      <p:sp>
        <p:nvSpPr>
          <p:cNvPr id="4" name="slide-6-title">
            <a:extLst>
              <a:ext uri="{FF2B5EF4-FFF2-40B4-BE49-F238E27FC236}">
                <a16:creationId xmlns:a16="http://schemas.microsoft.com/office/drawing/2014/main" id="{833222F4-6E4E-41D7-81F6-23D2CAFD9693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PPO turns Critic estimates into an Actor update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159185-F420-4886-8703-7FCF307FC333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10782300" cy="19050"/>
          </a:xfrm>
          <a:prstGeom prst="rect">
            <a:avLst/>
          </a:prstGeom>
          <a:solidFill>
            <a:srgbClr val="3A475C"/>
          </a:solidFill>
          <a:ln w="0">
            <a:solidFill>
              <a:srgbClr val="3A4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44D152-29F1-4CFD-985C-1E6283D7D6D4}"/>
              </a:ext>
            </a:extLst>
          </p:cNvPr>
          <p:cNvSpPr>
            <a:spLocks noGrp="1"/>
          </p:cNvSpPr>
          <p:nvPr/>
        </p:nvSpPr>
        <p:spPr>
          <a:xfrm>
            <a:off x="714375" y="20383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CDD5E1"/>
                </a:solidFill>
              </a:defRPr>
            </a:pPr>
            <a:r>
              <a:rPr sz="1500" b="1">
                <a:solidFill>
                  <a:srgbClr val="CDD5E1"/>
                </a:solidFill>
              </a:rPr>
              <a:t>TD error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8E7D54-1552-4DB3-8EBD-6420CED38515}"/>
              </a:ext>
            </a:extLst>
          </p:cNvPr>
          <p:cNvSpPr>
            <a:spLocks noGrp="1"/>
          </p:cNvSpPr>
          <p:nvPr/>
        </p:nvSpPr>
        <p:spPr>
          <a:xfrm>
            <a:off x="714375" y="2381250"/>
            <a:ext cx="476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F4F7FB"/>
                </a:solidFill>
              </a:defRPr>
            </a:pPr>
            <a:r>
              <a:rPr sz="2175" b="1">
                <a:solidFill>
                  <a:srgbClr val="F4F7FB"/>
                </a:solidFill>
              </a:rPr>
              <a:t>δₜ = rₜ + γVφ(sₜ₊₁) − Vφ(sₜ)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F2F164-82EB-4576-9B40-2F52DB83F104}"/>
              </a:ext>
            </a:extLst>
          </p:cNvPr>
          <p:cNvSpPr>
            <a:spLocks noGrp="1"/>
          </p:cNvSpPr>
          <p:nvPr/>
        </p:nvSpPr>
        <p:spPr>
          <a:xfrm>
            <a:off x="714375" y="32194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CDD5E1"/>
                </a:solidFill>
              </a:defRPr>
            </a:pPr>
            <a:r>
              <a:rPr sz="1500" b="1">
                <a:solidFill>
                  <a:srgbClr val="CDD5E1"/>
                </a:solidFill>
              </a:rPr>
              <a:t>Generalized advantage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B17BC5-6D40-4F08-9571-BB42AB3C914F}"/>
              </a:ext>
            </a:extLst>
          </p:cNvPr>
          <p:cNvSpPr>
            <a:spLocks noGrp="1"/>
          </p:cNvSpPr>
          <p:nvPr/>
        </p:nvSpPr>
        <p:spPr>
          <a:xfrm>
            <a:off x="714375" y="3543300"/>
            <a:ext cx="476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F4F7FB"/>
                </a:solidFill>
              </a:defRPr>
            </a:pPr>
            <a:r>
              <a:rPr sz="2175" b="1">
                <a:solidFill>
                  <a:srgbClr val="F4F7FB"/>
                </a:solidFill>
              </a:rPr>
              <a:t>Âₜ = δₜ + γλδₜ₊₁ + ⋯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B7F759-9EB9-4ABF-AA60-4060A39C51B3}"/>
              </a:ext>
            </a:extLst>
          </p:cNvPr>
          <p:cNvSpPr>
            <a:spLocks noGrp="1"/>
          </p:cNvSpPr>
          <p:nvPr/>
        </p:nvSpPr>
        <p:spPr>
          <a:xfrm>
            <a:off x="714375" y="43815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CDD5E1"/>
                </a:solidFill>
              </a:defRPr>
            </a:pPr>
            <a:r>
              <a:rPr sz="1500" b="1">
                <a:solidFill>
                  <a:srgbClr val="CDD5E1"/>
                </a:solidFill>
              </a:rPr>
              <a:t>Clipped Actor objective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C82EE3-E0B6-441D-9962-C31370E632DA}"/>
              </a:ext>
            </a:extLst>
          </p:cNvPr>
          <p:cNvSpPr>
            <a:spLocks noGrp="1"/>
          </p:cNvSpPr>
          <p:nvPr/>
        </p:nvSpPr>
        <p:spPr>
          <a:xfrm>
            <a:off x="714375" y="4705350"/>
            <a:ext cx="495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4F7FB"/>
                </a:solidFill>
              </a:defRPr>
            </a:pPr>
            <a:r>
              <a:rPr sz="2025" b="1">
                <a:solidFill>
                  <a:srgbClr val="F4F7FB"/>
                </a:solidFill>
              </a:rPr>
              <a:t>Lᴾᴾᴼ = −min(ρₜÂₜ, clip(ρₜ)Âₜ)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8C83342-4553-4D5F-85B6-5AB4C5EB297D}"/>
              </a:ext>
            </a:extLst>
          </p:cNvPr>
          <p:cNvSpPr>
            <a:spLocks noGrp="1"/>
          </p:cNvSpPr>
          <p:nvPr/>
        </p:nvSpPr>
        <p:spPr>
          <a:xfrm>
            <a:off x="5953125" y="2076450"/>
            <a:ext cx="5524500" cy="3333750"/>
          </a:xfrm>
          <a:prstGeom prst="roundRect">
            <a:avLst>
              <a:gd name="adj" fmla="val 3429"/>
            </a:avLst>
          </a:prstGeom>
          <a:solidFill>
            <a:srgbClr val="171D2B"/>
          </a:solidFill>
          <a:ln w="9525">
            <a:solidFill>
              <a:srgbClr val="3A4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7D22B-6594-4830-831A-CD3C89FD178A}"/>
              </a:ext>
            </a:extLst>
          </p:cNvPr>
          <p:cNvSpPr>
            <a:spLocks noGrp="1"/>
          </p:cNvSpPr>
          <p:nvPr/>
        </p:nvSpPr>
        <p:spPr>
          <a:xfrm>
            <a:off x="6191250" y="2266950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Implementation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45B406-8B41-4A91-AAE5-CF1721B0A05C}"/>
              </a:ext>
            </a:extLst>
          </p:cNvPr>
          <p:cNvSpPr>
            <a:spLocks noGrp="1"/>
          </p:cNvSpPr>
          <p:nvPr/>
        </p:nvSpPr>
        <p:spPr>
          <a:xfrm>
            <a:off x="6191250" y="2724150"/>
            <a:ext cx="4953000" cy="2333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CDD5E1"/>
                </a:solidFill>
              </a:defRPr>
            </a:pPr>
            <a:r>
              <a:rPr sz="1275" b="0">
                <a:solidFill>
                  <a:srgbClr val="CDD5E1"/>
                </a:solidFill>
              </a:rPr>
              <a:t>action, log_prob, value = actor_critic.act(state)</a:t>
            </a:r>
          </a:p>
          <a:p>
            <a:endParaRPr sz="1275" b="0">
              <a:solidFill>
                <a:srgbClr val="CDD5E1"/>
              </a:solidFill>
            </a:endParaRPr>
          </a:p>
          <a:p>
            <a:pPr algn="l">
              <a:defRPr sz="1275" b="0">
                <a:solidFill>
                  <a:srgbClr val="CDD5E1"/>
                </a:solidFill>
              </a:defRPr>
            </a:pPr>
            <a:r>
              <a:rPr sz="1275" b="0">
                <a:solidFill>
                  <a:srgbClr val="CDD5E1"/>
                </a:solidFill>
              </a:rPr>
              <a:t>delta = reward + gamma * next_value - value</a:t>
            </a:r>
          </a:p>
          <a:p>
            <a:pPr algn="l">
              <a:defRPr sz="1275" b="0">
                <a:solidFill>
                  <a:srgbClr val="CDD5E1"/>
                </a:solidFill>
              </a:defRPr>
            </a:pPr>
            <a:r>
              <a:rPr sz="1275" b="0">
                <a:solidFill>
                  <a:srgbClr val="CDD5E1"/>
                </a:solidFill>
              </a:rPr>
              <a:t>advantages, returns = generalized_advantage_estimate(...)</a:t>
            </a:r>
          </a:p>
          <a:p>
            <a:endParaRPr sz="1275" b="0">
              <a:solidFill>
                <a:srgbClr val="CDD5E1"/>
              </a:solidFill>
            </a:endParaRPr>
          </a:p>
          <a:p>
            <a:pPr algn="l">
              <a:defRPr sz="1275" b="0">
                <a:solidFill>
                  <a:srgbClr val="CDD5E1"/>
                </a:solidFill>
              </a:defRPr>
            </a:pPr>
            <a:r>
              <a:rPr sz="1275" b="0">
                <a:solidFill>
                  <a:srgbClr val="CDD5E1"/>
                </a:solidFill>
              </a:rPr>
              <a:t>ratio = exp(new_log_prob - old_log_prob)</a:t>
            </a:r>
          </a:p>
          <a:p>
            <a:pPr algn="l">
              <a:defRPr sz="1275" b="0">
                <a:solidFill>
                  <a:srgbClr val="CDD5E1"/>
                </a:solidFill>
              </a:defRPr>
            </a:pPr>
            <a:r>
              <a:rPr sz="1275" b="0">
                <a:solidFill>
                  <a:srgbClr val="CDD5E1"/>
                </a:solidFill>
              </a:rPr>
              <a:t>actor_loss = -min(ratio * advantage, clipped * advantage)</a:t>
            </a:r>
          </a:p>
          <a:p>
            <a:pPr algn="l">
              <a:defRPr sz="1275" b="0">
                <a:solidFill>
                  <a:srgbClr val="CDD5E1"/>
                </a:solidFill>
              </a:defRPr>
            </a:pPr>
            <a:r>
              <a:rPr sz="1275" b="0">
                <a:solidFill>
                  <a:srgbClr val="CDD5E1"/>
                </a:solidFill>
              </a:rPr>
              <a:t>critic_loss = 0.5 * (return - value)²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92066D-1D48-4260-993A-CC0AC43D3D8B}"/>
              </a:ext>
            </a:extLst>
          </p:cNvPr>
          <p:cNvSpPr>
            <a:spLocks noGrp="1"/>
          </p:cNvSpPr>
          <p:nvPr/>
        </p:nvSpPr>
        <p:spPr>
          <a:xfrm>
            <a:off x="714375" y="5857875"/>
            <a:ext cx="38100" cy="476250"/>
          </a:xfrm>
          <a:prstGeom prst="rect">
            <a:avLst/>
          </a:prstGeom>
          <a:solidFill>
            <a:srgbClr val="00F0C8"/>
          </a:solidFill>
          <a:ln w="0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0EB867-DD1B-4B44-91D4-89009A81318E}"/>
              </a:ext>
            </a:extLst>
          </p:cNvPr>
          <p:cNvSpPr>
            <a:spLocks noGrp="1"/>
          </p:cNvSpPr>
          <p:nvPr/>
        </p:nvSpPr>
        <p:spPr>
          <a:xfrm>
            <a:off x="933450" y="5876925"/>
            <a:ext cx="1019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The Critic learns V(s); its advantage estimate tells the Actor which target-conditioned actions performed better than expected.</a:t>
            </a:r>
          </a:p>
        </p:txBody>
      </p:sp>
    </p:spTree>
    <p:extLst>
      <p:ext uri="{BB962C8B-B14F-4D97-AF65-F5344CB8AC3E}">
        <p14:creationId xmlns:p14="http://schemas.microsoft.com/office/powerpoint/2010/main" val="801273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ection-label">
            <a:extLst>
              <a:ext uri="{FF2B5EF4-FFF2-40B4-BE49-F238E27FC236}">
                <a16:creationId xmlns:a16="http://schemas.microsoft.com/office/drawing/2014/main" id="{771A0ED2-E8CF-45F4-9B98-1810DD1636FE}"/>
              </a:ext>
            </a:extLst>
          </p:cNvPr>
          <p:cNvSpPr>
            <a:spLocks noGrp="1"/>
          </p:cNvSpPr>
          <p:nvPr/>
        </p:nvSpPr>
        <p:spPr>
          <a:xfrm>
            <a:off x="704850" y="323850"/>
            <a:ext cx="2019300" cy="266700"/>
          </a:xfrm>
          <a:prstGeom prst="roundRect">
            <a:avLst>
              <a:gd name="adj" fmla="val 42857"/>
            </a:avLst>
          </a:prstGeom>
          <a:solidFill>
            <a:srgbClr val="07101F"/>
          </a:solidFill>
          <a:ln w="9525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07AD75-D103-45B3-9164-04AFE0964413}"/>
              </a:ext>
            </a:extLst>
          </p:cNvPr>
          <p:cNvSpPr>
            <a:spLocks noGrp="1"/>
          </p:cNvSpPr>
          <p:nvPr/>
        </p:nvSpPr>
        <p:spPr>
          <a:xfrm>
            <a:off x="819150" y="3429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F0C8"/>
                </a:solidFill>
              </a:defRPr>
            </a:pPr>
            <a:r>
              <a:rPr sz="900" b="1">
                <a:solidFill>
                  <a:srgbClr val="00F0C8"/>
                </a:solidFill>
              </a:rPr>
              <a:t>— RESULTS AND EVIDENCE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40A95F-EF99-4531-9FC1-E18AD7ADFA70}"/>
              </a:ext>
            </a:extLst>
          </p:cNvPr>
          <p:cNvSpPr>
            <a:spLocks noGrp="1"/>
          </p:cNvSpPr>
          <p:nvPr/>
        </p:nvSpPr>
        <p:spPr>
          <a:xfrm>
            <a:off x="11353800" y="342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F4F7FB"/>
                </a:solidFill>
              </a:defRPr>
            </a:pPr>
            <a:r>
              <a:rPr sz="975" b="1">
                <a:solidFill>
                  <a:srgbClr val="F4F7FB"/>
                </a:solidFill>
              </a:rPr>
              <a:t>07</a:t>
            </a:r>
          </a:p>
        </p:txBody>
      </p:sp>
      <p:sp>
        <p:nvSpPr>
          <p:cNvPr id="4" name="slide-7-title">
            <a:extLst>
              <a:ext uri="{FF2B5EF4-FFF2-40B4-BE49-F238E27FC236}">
                <a16:creationId xmlns:a16="http://schemas.microsoft.com/office/drawing/2014/main" id="{BC2FE713-C19C-43A5-B6F0-B71E6430FB00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The selected policy succeeds on 100 unseen target episodes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A45426-C123-490A-A92C-378B65EC2038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10782300" cy="19050"/>
          </a:xfrm>
          <a:prstGeom prst="rect">
            <a:avLst/>
          </a:prstGeom>
          <a:solidFill>
            <a:srgbClr val="3A475C"/>
          </a:solidFill>
          <a:ln w="0">
            <a:solidFill>
              <a:srgbClr val="3A4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E992E7-1E5F-4E40-9BA8-FB6A8E5D93CF}"/>
              </a:ext>
            </a:extLst>
          </p:cNvPr>
          <p:cNvSpPr>
            <a:spLocks noGrp="1"/>
          </p:cNvSpPr>
          <p:nvPr/>
        </p:nvSpPr>
        <p:spPr>
          <a:xfrm>
            <a:off x="523875" y="2762250"/>
            <a:ext cx="266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450" b="1">
                <a:solidFill>
                  <a:srgbClr val="F4F7FB"/>
                </a:solidFill>
              </a:defRPr>
            </a:pPr>
            <a:r>
              <a:rPr sz="3450" b="1">
                <a:solidFill>
                  <a:srgbClr val="F4F7FB"/>
                </a:solidFill>
              </a:rPr>
              <a:t>100/100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8474C1-B5C2-43DF-9430-FD6BA51BA454}"/>
              </a:ext>
            </a:extLst>
          </p:cNvPr>
          <p:cNvSpPr>
            <a:spLocks noGrp="1"/>
          </p:cNvSpPr>
          <p:nvPr/>
        </p:nvSpPr>
        <p:spPr>
          <a:xfrm>
            <a:off x="523875" y="3448050"/>
            <a:ext cx="266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Evaluation successes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C0EC72-4D0B-4F46-A1B8-15D87BE3DB72}"/>
              </a:ext>
            </a:extLst>
          </p:cNvPr>
          <p:cNvSpPr>
            <a:spLocks noGrp="1"/>
          </p:cNvSpPr>
          <p:nvPr/>
        </p:nvSpPr>
        <p:spPr>
          <a:xfrm>
            <a:off x="523875" y="3790950"/>
            <a:ext cx="266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8FA1B7"/>
                </a:solidFill>
              </a:defRPr>
            </a:pPr>
            <a:r>
              <a:rPr sz="1125" b="0">
                <a:solidFill>
                  <a:srgbClr val="8FA1B7"/>
                </a:solidFill>
              </a:rPr>
              <a:t>seeds 1000–1099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881F19-C64F-4735-9FE2-B53D5FB3E92E}"/>
              </a:ext>
            </a:extLst>
          </p:cNvPr>
          <p:cNvSpPr>
            <a:spLocks noGrp="1"/>
          </p:cNvSpPr>
          <p:nvPr/>
        </p:nvSpPr>
        <p:spPr>
          <a:xfrm>
            <a:off x="3381375" y="2762250"/>
            <a:ext cx="266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450" b="1">
                <a:solidFill>
                  <a:srgbClr val="F4F7FB"/>
                </a:solidFill>
              </a:defRPr>
            </a:pPr>
            <a:r>
              <a:rPr sz="3450" b="1">
                <a:solidFill>
                  <a:srgbClr val="F4F7FB"/>
                </a:solidFill>
              </a:rPr>
              <a:t>0.0185 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95D908-126D-40AB-A3F9-43537E85986F}"/>
              </a:ext>
            </a:extLst>
          </p:cNvPr>
          <p:cNvSpPr>
            <a:spLocks noGrp="1"/>
          </p:cNvSpPr>
          <p:nvPr/>
        </p:nvSpPr>
        <p:spPr>
          <a:xfrm>
            <a:off x="3381375" y="3448050"/>
            <a:ext cx="266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Mean minimum distance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80C0F1-B896-4D46-8E57-935702021281}"/>
              </a:ext>
            </a:extLst>
          </p:cNvPr>
          <p:cNvSpPr>
            <a:spLocks noGrp="1"/>
          </p:cNvSpPr>
          <p:nvPr/>
        </p:nvSpPr>
        <p:spPr>
          <a:xfrm>
            <a:off x="3381375" y="3790950"/>
            <a:ext cx="266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8FA1B7"/>
                </a:solidFill>
              </a:defRPr>
            </a:pPr>
            <a:r>
              <a:rPr sz="1125" b="0">
                <a:solidFill>
                  <a:srgbClr val="8FA1B7"/>
                </a:solidFill>
              </a:rPr>
              <a:t>well within 0.045 m tolerance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9714BC-09D6-4B40-9317-01C5EEAF618B}"/>
              </a:ext>
            </a:extLst>
          </p:cNvPr>
          <p:cNvSpPr>
            <a:spLocks noGrp="1"/>
          </p:cNvSpPr>
          <p:nvPr/>
        </p:nvSpPr>
        <p:spPr>
          <a:xfrm>
            <a:off x="6238875" y="2762250"/>
            <a:ext cx="266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450" b="1">
                <a:solidFill>
                  <a:srgbClr val="F4F7FB"/>
                </a:solidFill>
              </a:defRPr>
            </a:pPr>
            <a:r>
              <a:rPr sz="3450" b="1">
                <a:solidFill>
                  <a:srgbClr val="F4F7FB"/>
                </a:solidFill>
              </a:rPr>
              <a:t>35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994AEF-DAA0-4D0A-9C0C-6E216F979F2A}"/>
              </a:ext>
            </a:extLst>
          </p:cNvPr>
          <p:cNvSpPr>
            <a:spLocks noGrp="1"/>
          </p:cNvSpPr>
          <p:nvPr/>
        </p:nvSpPr>
        <p:spPr>
          <a:xfrm>
            <a:off x="6238875" y="3448050"/>
            <a:ext cx="266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Selected PPO update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6427BD-A135-4F6A-8EBD-9EE39DF1DA4F}"/>
              </a:ext>
            </a:extLst>
          </p:cNvPr>
          <p:cNvSpPr>
            <a:spLocks noGrp="1"/>
          </p:cNvSpPr>
          <p:nvPr/>
        </p:nvSpPr>
        <p:spPr>
          <a:xfrm>
            <a:off x="6238875" y="3790950"/>
            <a:ext cx="266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8FA1B7"/>
                </a:solidFill>
              </a:defRPr>
            </a:pPr>
            <a:r>
              <a:rPr sz="1125" b="0">
                <a:solidFill>
                  <a:srgbClr val="8FA1B7"/>
                </a:solidFill>
              </a:rPr>
              <a:t>best validation checkpoint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A97A8-D8CD-4AD4-99B6-4DE1A4C1B752}"/>
              </a:ext>
            </a:extLst>
          </p:cNvPr>
          <p:cNvSpPr>
            <a:spLocks noGrp="1"/>
          </p:cNvSpPr>
          <p:nvPr/>
        </p:nvSpPr>
        <p:spPr>
          <a:xfrm>
            <a:off x="9096375" y="2762250"/>
            <a:ext cx="266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450" b="1">
                <a:solidFill>
                  <a:srgbClr val="F4F7FB"/>
                </a:solidFill>
              </a:defRPr>
            </a:pPr>
            <a:r>
              <a:rPr sz="3450" b="1">
                <a:solidFill>
                  <a:srgbClr val="F4F7FB"/>
                </a:solidFill>
              </a:rPr>
              <a:t>0.045 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079836-6C68-4A4D-A30A-48D53B1C8185}"/>
              </a:ext>
            </a:extLst>
          </p:cNvPr>
          <p:cNvSpPr>
            <a:spLocks noGrp="1"/>
          </p:cNvSpPr>
          <p:nvPr/>
        </p:nvSpPr>
        <p:spPr>
          <a:xfrm>
            <a:off x="9096375" y="3448050"/>
            <a:ext cx="266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Touch tolerance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DC227A-0578-4BFD-87DB-04169C6FF556}"/>
              </a:ext>
            </a:extLst>
          </p:cNvPr>
          <p:cNvSpPr>
            <a:spLocks noGrp="1"/>
          </p:cNvSpPr>
          <p:nvPr/>
        </p:nvSpPr>
        <p:spPr>
          <a:xfrm>
            <a:off x="9096375" y="3790950"/>
            <a:ext cx="266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8FA1B7"/>
                </a:solidFill>
              </a:defRPr>
            </a:pPr>
            <a:r>
              <a:rPr sz="1125" b="0">
                <a:solidFill>
                  <a:srgbClr val="8FA1B7"/>
                </a:solidFill>
              </a:rPr>
              <a:t>8 consecutive steps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3664C9-F12C-4DC4-BEBF-79EFF0653444}"/>
              </a:ext>
            </a:extLst>
          </p:cNvPr>
          <p:cNvSpPr>
            <a:spLocks noGrp="1"/>
          </p:cNvSpPr>
          <p:nvPr/>
        </p:nvSpPr>
        <p:spPr>
          <a:xfrm>
            <a:off x="714375" y="4286250"/>
            <a:ext cx="10763250" cy="19050"/>
          </a:xfrm>
          <a:prstGeom prst="rect">
            <a:avLst/>
          </a:prstGeom>
          <a:solidFill>
            <a:srgbClr val="3A475C"/>
          </a:solidFill>
          <a:ln w="0">
            <a:solidFill>
              <a:srgbClr val="3A4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592EA7-07C7-47BA-9D4B-CFF1A4F5DDD9}"/>
              </a:ext>
            </a:extLst>
          </p:cNvPr>
          <p:cNvSpPr>
            <a:spLocks noGrp="1"/>
          </p:cNvSpPr>
          <p:nvPr/>
        </p:nvSpPr>
        <p:spPr>
          <a:xfrm>
            <a:off x="714375" y="447675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Validation success during training</a:t>
            </a:r>
          </a:p>
        </p:txBody>
      </p:sp>
      <p:graphicFrame>
        <p:nvGraphicFramePr>
          <p:cNvPr id="43" name="Chart"/>
          <p:cNvGraphicFramePr/>
          <p:nvPr/>
        </p:nvGraphicFramePr>
        <p:xfrm>
          <a:off x="714375" y="4857750"/>
          <a:ext cx="5810250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1B87B34-C10E-474F-92BF-E530D97E89F8}"/>
              </a:ext>
            </a:extLst>
          </p:cNvPr>
          <p:cNvSpPr>
            <a:spLocks noGrp="1"/>
          </p:cNvSpPr>
          <p:nvPr/>
        </p:nvSpPr>
        <p:spPr>
          <a:xfrm>
            <a:off x="6905625" y="4667250"/>
            <a:ext cx="4572000" cy="1638300"/>
          </a:xfrm>
          <a:prstGeom prst="roundRect">
            <a:avLst>
              <a:gd name="adj" fmla="val 6977"/>
            </a:avLst>
          </a:prstGeom>
          <a:solidFill>
            <a:srgbClr val="0B1425"/>
          </a:solidFill>
          <a:ln w="14288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ED7B83-D868-4CD5-8B80-16A2273BAC3C}"/>
              </a:ext>
            </a:extLst>
          </p:cNvPr>
          <p:cNvSpPr>
            <a:spLocks noGrp="1"/>
          </p:cNvSpPr>
          <p:nvPr/>
        </p:nvSpPr>
        <p:spPr>
          <a:xfrm>
            <a:off x="7143750" y="4829175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What the evidence means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65CBC7-3530-450C-99B1-0BB67D0D1D6E}"/>
              </a:ext>
            </a:extLst>
          </p:cNvPr>
          <p:cNvSpPr>
            <a:spLocks noGrp="1"/>
          </p:cNvSpPr>
          <p:nvPr/>
        </p:nvSpPr>
        <p:spPr>
          <a:xfrm>
            <a:off x="7143750" y="5238750"/>
            <a:ext cx="4000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CDD5E1"/>
                </a:solidFill>
              </a:defRPr>
            </a:pPr>
            <a:r>
              <a:rPr sz="1350" b="0">
                <a:solidFill>
                  <a:srgbClr val="CDD5E1"/>
                </a:solidFill>
              </a:rPr>
              <a:t>• The checkpoint reloads without retraining.</a:t>
            </a:r>
          </a:p>
          <a:p>
            <a:pPr algn="l">
              <a:defRPr sz="1350" b="0">
                <a:solidFill>
                  <a:srgbClr val="CDD5E1"/>
                </a:solidFill>
              </a:defRPr>
            </a:pPr>
            <a:r>
              <a:rPr sz="1350" b="0">
                <a:solidFill>
                  <a:srgbClr val="CDD5E1"/>
                </a:solidFill>
              </a:rPr>
              <a:t>• Every evaluation seed produces a different reachable target.</a:t>
            </a:r>
          </a:p>
          <a:p>
            <a:pPr algn="l">
              <a:defRPr sz="1350" b="0">
                <a:solidFill>
                  <a:srgbClr val="CDD5E1"/>
                </a:solidFill>
              </a:defRPr>
            </a:pPr>
            <a:r>
              <a:rPr sz="1350" b="0">
                <a:solidFill>
                  <a:srgbClr val="CDD5E1"/>
                </a:solidFill>
              </a:rPr>
              <a:t>• Success requires sustained fingertip proximity, not a single close frame.</a:t>
            </a:r>
          </a:p>
        </p:txBody>
      </p:sp>
    </p:spTree>
    <p:extLst>
      <p:ext uri="{BB962C8B-B14F-4D97-AF65-F5344CB8AC3E}">
        <p14:creationId xmlns:p14="http://schemas.microsoft.com/office/powerpoint/2010/main" val="817084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ction-label">
            <a:extLst>
              <a:ext uri="{FF2B5EF4-FFF2-40B4-BE49-F238E27FC236}">
                <a16:creationId xmlns:a16="http://schemas.microsoft.com/office/drawing/2014/main" id="{7FBD94B4-122F-49FE-B49D-8390DFE56DD5}"/>
              </a:ext>
            </a:extLst>
          </p:cNvPr>
          <p:cNvSpPr>
            <a:spLocks noGrp="1"/>
          </p:cNvSpPr>
          <p:nvPr/>
        </p:nvSpPr>
        <p:spPr>
          <a:xfrm>
            <a:off x="704850" y="323850"/>
            <a:ext cx="2533650" cy="266700"/>
          </a:xfrm>
          <a:prstGeom prst="roundRect">
            <a:avLst>
              <a:gd name="adj" fmla="val 42857"/>
            </a:avLst>
          </a:prstGeom>
          <a:solidFill>
            <a:srgbClr val="07101F"/>
          </a:solidFill>
          <a:ln w="9525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65B052-7D2A-4CB8-85A8-C72058491D2C}"/>
              </a:ext>
            </a:extLst>
          </p:cNvPr>
          <p:cNvSpPr>
            <a:spLocks noGrp="1"/>
          </p:cNvSpPr>
          <p:nvPr/>
        </p:nvSpPr>
        <p:spPr>
          <a:xfrm>
            <a:off x="819150" y="3429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F0C8"/>
                </a:solidFill>
              </a:defRPr>
            </a:pPr>
            <a:r>
              <a:rPr sz="900" b="1">
                <a:solidFill>
                  <a:srgbClr val="00F0C8"/>
                </a:solidFill>
              </a:rPr>
              <a:t>— LIMITATIONS AND NEXT STEPS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3CDE66-B383-4B78-9662-01206B0C7CB0}"/>
              </a:ext>
            </a:extLst>
          </p:cNvPr>
          <p:cNvSpPr>
            <a:spLocks noGrp="1"/>
          </p:cNvSpPr>
          <p:nvPr/>
        </p:nvSpPr>
        <p:spPr>
          <a:xfrm>
            <a:off x="11353800" y="342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F4F7FB"/>
                </a:solidFill>
              </a:defRPr>
            </a:pPr>
            <a:r>
              <a:rPr sz="975" b="1">
                <a:solidFill>
                  <a:srgbClr val="F4F7FB"/>
                </a:solidFill>
              </a:rPr>
              <a:t>08</a:t>
            </a:r>
          </a:p>
        </p:txBody>
      </p:sp>
      <p:sp>
        <p:nvSpPr>
          <p:cNvPr id="4" name="slide-8-title">
            <a:extLst>
              <a:ext uri="{FF2B5EF4-FFF2-40B4-BE49-F238E27FC236}">
                <a16:creationId xmlns:a16="http://schemas.microsoft.com/office/drawing/2014/main" id="{3BB29604-72E5-4796-89BE-241D6489C3BF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The current policy proves adaptation, with clear physical limits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BB91ED-6A0B-4012-891F-570549B072D2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10782300" cy="19050"/>
          </a:xfrm>
          <a:prstGeom prst="rect">
            <a:avLst/>
          </a:prstGeom>
          <a:solidFill>
            <a:srgbClr val="3A475C"/>
          </a:solidFill>
          <a:ln w="0">
            <a:solidFill>
              <a:srgbClr val="3A4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775FE3F-F8CE-41BC-9327-F91E78E100D6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3333750" cy="2714625"/>
          </a:xfrm>
          <a:prstGeom prst="roundRect">
            <a:avLst>
              <a:gd name="adj" fmla="val 4211"/>
            </a:avLst>
          </a:prstGeom>
          <a:solidFill>
            <a:srgbClr val="0B1425"/>
          </a:solidFill>
          <a:ln w="19050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6CB29F-4796-48DB-B5F1-054C2DA10F00}"/>
              </a:ext>
            </a:extLst>
          </p:cNvPr>
          <p:cNvSpPr>
            <a:spLocks noGrp="1"/>
          </p:cNvSpPr>
          <p:nvPr/>
        </p:nvSpPr>
        <p:spPr>
          <a:xfrm>
            <a:off x="904875" y="226695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Completed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93C954-9124-4524-ADA3-02EC5643682E}"/>
              </a:ext>
            </a:extLst>
          </p:cNvPr>
          <p:cNvSpPr>
            <a:spLocks noGrp="1"/>
          </p:cNvSpPr>
          <p:nvPr/>
        </p:nvSpPr>
        <p:spPr>
          <a:xfrm>
            <a:off x="942975" y="2790825"/>
            <a:ext cx="2876550" cy="1762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CDD5E1"/>
                </a:solidFill>
              </a:defRPr>
            </a:pPr>
            <a:r>
              <a:rPr sz="1500" b="0">
                <a:solidFill>
                  <a:srgbClr val="CDD5E1"/>
                </a:solidFill>
              </a:rPr>
              <a:t>• Five-finger Inspire model</a:t>
            </a:r>
          </a:p>
          <a:p>
            <a:pPr algn="l">
              <a:defRPr sz="1500" b="0">
                <a:solidFill>
                  <a:srgbClr val="CDD5E1"/>
                </a:solidFill>
              </a:defRPr>
            </a:pPr>
            <a:r>
              <a:rPr sz="1500" b="0">
                <a:solidFill>
                  <a:srgbClr val="CDD5E1"/>
                </a:solidFill>
              </a:rPr>
              <a:t>• Randomized reachable targets</a:t>
            </a:r>
          </a:p>
          <a:p>
            <a:pPr algn="l">
              <a:defRPr sz="1500" b="0">
                <a:solidFill>
                  <a:srgbClr val="CDD5E1"/>
                </a:solidFill>
              </a:defRPr>
            </a:pPr>
            <a:r>
              <a:rPr sz="1500" b="0">
                <a:solidFill>
                  <a:srgbClr val="CDD5E1"/>
                </a:solidFill>
              </a:rPr>
              <a:t>• PPO Actor and Value Critic</a:t>
            </a:r>
          </a:p>
          <a:p>
            <a:pPr algn="l">
              <a:defRPr sz="1500" b="0">
                <a:solidFill>
                  <a:srgbClr val="CDD5E1"/>
                </a:solidFill>
              </a:defRPr>
            </a:pPr>
            <a:r>
              <a:rPr sz="1500" b="0">
                <a:solidFill>
                  <a:srgbClr val="CDD5E1"/>
                </a:solidFill>
              </a:rPr>
              <a:t>• Saved-model evaluation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513985A-E5DC-4DB8-9A57-7DDE716A7CEE}"/>
              </a:ext>
            </a:extLst>
          </p:cNvPr>
          <p:cNvSpPr>
            <a:spLocks noGrp="1"/>
          </p:cNvSpPr>
          <p:nvPr/>
        </p:nvSpPr>
        <p:spPr>
          <a:xfrm>
            <a:off x="4429125" y="2095500"/>
            <a:ext cx="3333750" cy="2714625"/>
          </a:xfrm>
          <a:prstGeom prst="roundRect">
            <a:avLst>
              <a:gd name="adj" fmla="val 4211"/>
            </a:avLst>
          </a:prstGeom>
          <a:solidFill>
            <a:srgbClr val="0B1425"/>
          </a:solidFill>
          <a:ln w="19050">
            <a:solidFill>
              <a:srgbClr val="FFA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401A1D-A8EC-4BC4-8456-2B56384236D0}"/>
              </a:ext>
            </a:extLst>
          </p:cNvPr>
          <p:cNvSpPr>
            <a:spLocks noGrp="1"/>
          </p:cNvSpPr>
          <p:nvPr/>
        </p:nvSpPr>
        <p:spPr>
          <a:xfrm>
            <a:off x="4619625" y="226695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Current limitations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67BD36-65A2-4B70-B51E-CB9D602E5322}"/>
              </a:ext>
            </a:extLst>
          </p:cNvPr>
          <p:cNvSpPr>
            <a:spLocks noGrp="1"/>
          </p:cNvSpPr>
          <p:nvPr/>
        </p:nvSpPr>
        <p:spPr>
          <a:xfrm>
            <a:off x="4657725" y="2790825"/>
            <a:ext cx="2876550" cy="1762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CDD5E1"/>
                </a:solidFill>
              </a:defRPr>
            </a:pPr>
            <a:r>
              <a:rPr sz="1500" b="0">
                <a:solidFill>
                  <a:srgbClr val="CDD5E1"/>
                </a:solidFill>
              </a:rPr>
              <a:t>• Kinematic joint increments</a:t>
            </a:r>
          </a:p>
          <a:p>
            <a:pPr algn="l">
              <a:defRPr sz="1500" b="0">
                <a:solidFill>
                  <a:srgbClr val="CDD5E1"/>
                </a:solidFill>
              </a:defRPr>
            </a:pPr>
            <a:r>
              <a:rPr sz="1500" b="0">
                <a:solidFill>
                  <a:srgbClr val="CDD5E1"/>
                </a:solidFill>
              </a:rPr>
              <a:t>• Virtual distance-based touch</a:t>
            </a:r>
          </a:p>
          <a:p>
            <a:pPr algn="l">
              <a:defRPr sz="1500" b="0">
                <a:solidFill>
                  <a:srgbClr val="CDD5E1"/>
                </a:solidFill>
              </a:defRPr>
            </a:pPr>
            <a:r>
              <a:rPr sz="1500" b="0">
                <a:solidFill>
                  <a:srgbClr val="CDD5E1"/>
                </a:solidFill>
              </a:rPr>
              <a:t>• Pointing hand is fixed</a:t>
            </a:r>
          </a:p>
          <a:p>
            <a:pPr algn="l">
              <a:defRPr sz="1500" b="0">
                <a:solidFill>
                  <a:srgbClr val="CDD5E1"/>
                </a:solidFill>
              </a:defRPr>
            </a:pPr>
            <a:r>
              <a:rPr sz="1500" b="0">
                <a:solidFill>
                  <a:srgbClr val="CDD5E1"/>
                </a:solidFill>
              </a:rPr>
              <a:t>• Target moves between episodes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D44261B-07ED-4321-809A-9C18642897B6}"/>
              </a:ext>
            </a:extLst>
          </p:cNvPr>
          <p:cNvSpPr>
            <a:spLocks noGrp="1"/>
          </p:cNvSpPr>
          <p:nvPr/>
        </p:nvSpPr>
        <p:spPr>
          <a:xfrm>
            <a:off x="8143875" y="2095500"/>
            <a:ext cx="3333750" cy="2714625"/>
          </a:xfrm>
          <a:prstGeom prst="roundRect">
            <a:avLst>
              <a:gd name="adj" fmla="val 4211"/>
            </a:avLst>
          </a:prstGeom>
          <a:solidFill>
            <a:srgbClr val="0B1425"/>
          </a:solidFill>
          <a:ln w="19050">
            <a:solidFill>
              <a:srgbClr val="29A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479BF6-6058-4E58-B938-6811D970FAA5}"/>
              </a:ext>
            </a:extLst>
          </p:cNvPr>
          <p:cNvSpPr>
            <a:spLocks noGrp="1"/>
          </p:cNvSpPr>
          <p:nvPr/>
        </p:nvSpPr>
        <p:spPr>
          <a:xfrm>
            <a:off x="8334375" y="226695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Next engineering steps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7BB4A0-F541-47B6-9882-056AF734811A}"/>
              </a:ext>
            </a:extLst>
          </p:cNvPr>
          <p:cNvSpPr>
            <a:spLocks noGrp="1"/>
          </p:cNvSpPr>
          <p:nvPr/>
        </p:nvSpPr>
        <p:spPr>
          <a:xfrm>
            <a:off x="8372475" y="2790825"/>
            <a:ext cx="2876550" cy="1762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CDD5E1"/>
                </a:solidFill>
              </a:defRPr>
            </a:pPr>
            <a:r>
              <a:rPr sz="1500" b="0">
                <a:solidFill>
                  <a:srgbClr val="CDD5E1"/>
                </a:solidFill>
              </a:rPr>
              <a:t>• Cartesian target input</a:t>
            </a:r>
          </a:p>
          <a:p>
            <a:pPr algn="l">
              <a:defRPr sz="1500" b="0">
                <a:solidFill>
                  <a:srgbClr val="CDD5E1"/>
                </a:solidFill>
              </a:defRPr>
            </a:pPr>
            <a:r>
              <a:rPr sz="1500" b="0">
                <a:solidFill>
                  <a:srgbClr val="CDD5E1"/>
                </a:solidFill>
              </a:rPr>
              <a:t>• Mid-episode target movement</a:t>
            </a:r>
          </a:p>
          <a:p>
            <a:pPr algn="l">
              <a:defRPr sz="1500" b="0">
                <a:solidFill>
                  <a:srgbClr val="CDD5E1"/>
                </a:solidFill>
              </a:defRPr>
            </a:pPr>
            <a:r>
              <a:rPr sz="1500" b="0">
                <a:solidFill>
                  <a:srgbClr val="CDD5E1"/>
                </a:solidFill>
              </a:rPr>
              <a:t>• Dynamic/torque controller</a:t>
            </a:r>
          </a:p>
          <a:p>
            <a:pPr algn="l">
              <a:defRPr sz="1500" b="0">
                <a:solidFill>
                  <a:srgbClr val="CDD5E1"/>
                </a:solidFill>
              </a:defRPr>
            </a:pPr>
            <a:r>
              <a:rPr sz="1500" b="0">
                <a:solidFill>
                  <a:srgbClr val="CDD5E1"/>
                </a:solidFill>
              </a:rPr>
              <a:t>• Simplified physical contact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B642B0-B343-4F09-8007-27A58E988AC3}"/>
              </a:ext>
            </a:extLst>
          </p:cNvPr>
          <p:cNvSpPr>
            <a:spLocks noGrp="1"/>
          </p:cNvSpPr>
          <p:nvPr/>
        </p:nvSpPr>
        <p:spPr>
          <a:xfrm>
            <a:off x="714375" y="5238750"/>
            <a:ext cx="10763250" cy="19050"/>
          </a:xfrm>
          <a:prstGeom prst="rect">
            <a:avLst/>
          </a:prstGeom>
          <a:solidFill>
            <a:srgbClr val="3A475C"/>
          </a:solidFill>
          <a:ln w="0">
            <a:solidFill>
              <a:srgbClr val="3A4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A8C8B4-2889-4F46-ABFD-5E63F4202F2F}"/>
              </a:ext>
            </a:extLst>
          </p:cNvPr>
          <p:cNvSpPr>
            <a:spLocks noGrp="1"/>
          </p:cNvSpPr>
          <p:nvPr/>
        </p:nvSpPr>
        <p:spPr>
          <a:xfrm>
            <a:off x="714375" y="542925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0F0C8"/>
                </a:solidFill>
              </a:defRPr>
            </a:pPr>
            <a:r>
              <a:rPr sz="1575" b="1">
                <a:solidFill>
                  <a:srgbClr val="00F0C8"/>
                </a:solidFill>
              </a:rPr>
              <a:t>Question for feedback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47F524-27D4-4F5F-AB57-7AD56C3B5C58}"/>
              </a:ext>
            </a:extLst>
          </p:cNvPr>
          <p:cNvSpPr>
            <a:spLocks noGrp="1"/>
          </p:cNvSpPr>
          <p:nvPr/>
        </p:nvSpPr>
        <p:spPr>
          <a:xfrm>
            <a:off x="714375" y="581025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F4F7FB"/>
                </a:solidFill>
              </a:defRPr>
            </a:pPr>
            <a:r>
              <a:rPr sz="1725" b="1" dirty="0">
                <a:solidFill>
                  <a:srgbClr val="F4F7FB"/>
                </a:solidFill>
              </a:rPr>
              <a:t>Is this target-conditioned kinematic baseline an appropriate foundation before introducing torque control and physical contact?</a:t>
            </a:r>
          </a:p>
        </p:txBody>
      </p:sp>
    </p:spTree>
    <p:extLst>
      <p:ext uri="{BB962C8B-B14F-4D97-AF65-F5344CB8AC3E}">
        <p14:creationId xmlns:p14="http://schemas.microsoft.com/office/powerpoint/2010/main" val="313891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ection-label">
            <a:extLst>
              <a:ext uri="{FF2B5EF4-FFF2-40B4-BE49-F238E27FC236}">
                <a16:creationId xmlns:a16="http://schemas.microsoft.com/office/drawing/2014/main" id="{FF912625-E7D5-4699-8CAB-6D6D272EF438}"/>
              </a:ext>
            </a:extLst>
          </p:cNvPr>
          <p:cNvSpPr>
            <a:spLocks noGrp="1"/>
          </p:cNvSpPr>
          <p:nvPr/>
        </p:nvSpPr>
        <p:spPr>
          <a:xfrm>
            <a:off x="704850" y="323850"/>
            <a:ext cx="1428750" cy="266700"/>
          </a:xfrm>
          <a:prstGeom prst="roundRect">
            <a:avLst>
              <a:gd name="adj" fmla="val 42857"/>
            </a:avLst>
          </a:prstGeom>
          <a:solidFill>
            <a:srgbClr val="07101F"/>
          </a:solidFill>
          <a:ln w="9525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BF94E2-6DB0-442D-9B2F-667272A0BECB}"/>
              </a:ext>
            </a:extLst>
          </p:cNvPr>
          <p:cNvSpPr>
            <a:spLocks noGrp="1"/>
          </p:cNvSpPr>
          <p:nvPr/>
        </p:nvSpPr>
        <p:spPr>
          <a:xfrm>
            <a:off x="819150" y="3429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00F0C8"/>
                </a:solidFill>
              </a:defRPr>
            </a:pPr>
            <a:r>
              <a:rPr sz="900" b="1">
                <a:solidFill>
                  <a:srgbClr val="00F0C8"/>
                </a:solidFill>
              </a:rPr>
              <a:t>— LIVE DEMO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B2B35A-837A-44FD-AE72-59BC766AA38C}"/>
              </a:ext>
            </a:extLst>
          </p:cNvPr>
          <p:cNvSpPr>
            <a:spLocks noGrp="1"/>
          </p:cNvSpPr>
          <p:nvPr/>
        </p:nvSpPr>
        <p:spPr>
          <a:xfrm>
            <a:off x="11353800" y="342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F4F7FB"/>
                </a:solidFill>
              </a:defRPr>
            </a:pPr>
            <a:r>
              <a:rPr sz="975" b="1">
                <a:solidFill>
                  <a:srgbClr val="F4F7FB"/>
                </a:solidFill>
              </a:rPr>
              <a:t>09</a:t>
            </a:r>
          </a:p>
        </p:txBody>
      </p:sp>
      <p:sp>
        <p:nvSpPr>
          <p:cNvPr id="4" name="slide-9-title">
            <a:extLst>
              <a:ext uri="{FF2B5EF4-FFF2-40B4-BE49-F238E27FC236}">
                <a16:creationId xmlns:a16="http://schemas.microsoft.com/office/drawing/2014/main" id="{36857B60-8200-4F36-943E-9F0F61CC57A6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The saved Actor now follows five different blue targets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3C6BDC-AAAF-45FE-97AB-0F1D56AF9B91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10782300" cy="19050"/>
          </a:xfrm>
          <a:prstGeom prst="rect">
            <a:avLst/>
          </a:prstGeom>
          <a:solidFill>
            <a:srgbClr val="3A475C"/>
          </a:solidFill>
          <a:ln w="0">
            <a:solidFill>
              <a:srgbClr val="3A4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0B3254-E9D9-4F7F-A37C-CBB06E5ED545}"/>
              </a:ext>
            </a:extLst>
          </p:cNvPr>
          <p:cNvSpPr>
            <a:spLocks noGrp="1"/>
          </p:cNvSpPr>
          <p:nvPr/>
        </p:nvSpPr>
        <p:spPr>
          <a:xfrm>
            <a:off x="714375" y="2028825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Run command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D6F77B8-BF6E-4BE1-842B-03FE84FE0BCB}"/>
              </a:ext>
            </a:extLst>
          </p:cNvPr>
          <p:cNvSpPr>
            <a:spLocks noGrp="1"/>
          </p:cNvSpPr>
          <p:nvPr/>
        </p:nvSpPr>
        <p:spPr>
          <a:xfrm>
            <a:off x="714375" y="2381250"/>
            <a:ext cx="10763250" cy="1000125"/>
          </a:xfrm>
          <a:prstGeom prst="roundRect">
            <a:avLst>
              <a:gd name="adj" fmla="val 11429"/>
            </a:avLst>
          </a:prstGeom>
          <a:solidFill>
            <a:srgbClr val="171D2B"/>
          </a:solidFill>
          <a:ln w="9525">
            <a:solidFill>
              <a:srgbClr val="3A4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0021F4-CA04-4219-961D-AA424BDFABF6}"/>
              </a:ext>
            </a:extLst>
          </p:cNvPr>
          <p:cNvSpPr>
            <a:spLocks noGrp="1"/>
          </p:cNvSpPr>
          <p:nvPr/>
        </p:nvSpPr>
        <p:spPr>
          <a:xfrm>
            <a:off x="952500" y="2457450"/>
            <a:ext cx="10287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macOS       $ mjpython final_project/evaluate_actor_critic.py --episodes 5 --viewer</a:t>
            </a:r>
          </a:p>
          <a:p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Windows/Linux  $ python final_project/evaluate_actor_critic.py --episodes 5 --viewer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D143A16-DD11-4D7D-BB12-780FA9523504}"/>
              </a:ext>
            </a:extLst>
          </p:cNvPr>
          <p:cNvSpPr>
            <a:spLocks noGrp="1"/>
          </p:cNvSpPr>
          <p:nvPr/>
        </p:nvSpPr>
        <p:spPr>
          <a:xfrm>
            <a:off x="714375" y="3714750"/>
            <a:ext cx="2381250" cy="1428750"/>
          </a:xfrm>
          <a:prstGeom prst="roundRect">
            <a:avLst>
              <a:gd name="adj" fmla="val 8000"/>
            </a:avLst>
          </a:prstGeom>
          <a:solidFill>
            <a:srgbClr val="0B1425"/>
          </a:solidFill>
          <a:ln w="14288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1EEC96-C829-40BB-9E58-67F65EE63EC2}"/>
              </a:ext>
            </a:extLst>
          </p:cNvPr>
          <p:cNvSpPr>
            <a:spLocks noGrp="1"/>
          </p:cNvSpPr>
          <p:nvPr/>
        </p:nvSpPr>
        <p:spPr>
          <a:xfrm>
            <a:off x="857250" y="38862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00F0C8"/>
                </a:solidFill>
              </a:defRPr>
            </a:pPr>
            <a:r>
              <a:rPr sz="2100" b="1">
                <a:solidFill>
                  <a:srgbClr val="00F0C8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0062E4-7A6D-4497-8F54-6B13309D8FF4}"/>
              </a:ext>
            </a:extLst>
          </p:cNvPr>
          <p:cNvSpPr>
            <a:spLocks noGrp="1"/>
          </p:cNvSpPr>
          <p:nvPr/>
        </p:nvSpPr>
        <p:spPr>
          <a:xfrm>
            <a:off x="1285875" y="3867150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Checkpoint loaded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2F9524-DE66-4420-8CDE-038F1B16C55F}"/>
              </a:ext>
            </a:extLst>
          </p:cNvPr>
          <p:cNvSpPr>
            <a:spLocks noGrp="1"/>
          </p:cNvSpPr>
          <p:nvPr/>
        </p:nvSpPr>
        <p:spPr>
          <a:xfrm>
            <a:off x="904875" y="4457700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CDD5E1"/>
                </a:solidFill>
              </a:defRPr>
            </a:pPr>
            <a:r>
              <a:rPr sz="1275" b="0">
                <a:solidFill>
                  <a:srgbClr val="CDD5E1"/>
                </a:solidFill>
              </a:rPr>
              <a:t>PPO update 35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1DC2602-2C98-4CBE-BE41-098B73A58DD4}"/>
              </a:ext>
            </a:extLst>
          </p:cNvPr>
          <p:cNvSpPr>
            <a:spLocks noGrp="1"/>
          </p:cNvSpPr>
          <p:nvPr/>
        </p:nvSpPr>
        <p:spPr>
          <a:xfrm>
            <a:off x="3381375" y="3714750"/>
            <a:ext cx="2381250" cy="1428750"/>
          </a:xfrm>
          <a:prstGeom prst="roundRect">
            <a:avLst>
              <a:gd name="adj" fmla="val 8000"/>
            </a:avLst>
          </a:prstGeom>
          <a:solidFill>
            <a:srgbClr val="0B1425"/>
          </a:solidFill>
          <a:ln w="14288">
            <a:solidFill>
              <a:srgbClr val="29A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8C2EDE-FB87-406F-9D9D-531E09AF047C}"/>
              </a:ext>
            </a:extLst>
          </p:cNvPr>
          <p:cNvSpPr>
            <a:spLocks noGrp="1"/>
          </p:cNvSpPr>
          <p:nvPr/>
        </p:nvSpPr>
        <p:spPr>
          <a:xfrm>
            <a:off x="3524250" y="38862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00F0C8"/>
                </a:solidFill>
              </a:defRPr>
            </a:pPr>
            <a:r>
              <a:rPr sz="2100" b="1">
                <a:solidFill>
                  <a:srgbClr val="00F0C8"/>
                </a:solidFill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D8C249-32E6-4243-B19E-0AC0D13656C7}"/>
              </a:ext>
            </a:extLst>
          </p:cNvPr>
          <p:cNvSpPr>
            <a:spLocks noGrp="1"/>
          </p:cNvSpPr>
          <p:nvPr/>
        </p:nvSpPr>
        <p:spPr>
          <a:xfrm>
            <a:off x="3952875" y="3867150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Blue target moves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150D94-1168-4FC1-A690-B479113BB13A}"/>
              </a:ext>
            </a:extLst>
          </p:cNvPr>
          <p:cNvSpPr>
            <a:spLocks noGrp="1"/>
          </p:cNvSpPr>
          <p:nvPr/>
        </p:nvSpPr>
        <p:spPr>
          <a:xfrm>
            <a:off x="3571875" y="4457700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CDD5E1"/>
                </a:solidFill>
              </a:defRPr>
            </a:pPr>
            <a:r>
              <a:rPr sz="1275" b="0">
                <a:solidFill>
                  <a:srgbClr val="CDD5E1"/>
                </a:solidFill>
              </a:rPr>
              <a:t>new target each episode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1F02D63-4ABF-4CD2-810E-CB3F7D8F785F}"/>
              </a:ext>
            </a:extLst>
          </p:cNvPr>
          <p:cNvSpPr>
            <a:spLocks noGrp="1"/>
          </p:cNvSpPr>
          <p:nvPr/>
        </p:nvSpPr>
        <p:spPr>
          <a:xfrm>
            <a:off x="6048375" y="3714750"/>
            <a:ext cx="2381250" cy="1428750"/>
          </a:xfrm>
          <a:prstGeom prst="roundRect">
            <a:avLst>
              <a:gd name="adj" fmla="val 8000"/>
            </a:avLst>
          </a:prstGeom>
          <a:solidFill>
            <a:srgbClr val="0B1425"/>
          </a:solidFill>
          <a:ln w="14288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F05D67-3D88-4F8C-90B9-D622D99A25FF}"/>
              </a:ext>
            </a:extLst>
          </p:cNvPr>
          <p:cNvSpPr>
            <a:spLocks noGrp="1"/>
          </p:cNvSpPr>
          <p:nvPr/>
        </p:nvSpPr>
        <p:spPr>
          <a:xfrm>
            <a:off x="6191250" y="38862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00F0C8"/>
                </a:solidFill>
              </a:defRPr>
            </a:pPr>
            <a:r>
              <a:rPr sz="2100" b="1">
                <a:solidFill>
                  <a:srgbClr val="00F0C8"/>
                </a:solidFill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F7252E-1B85-4BA7-BAE6-235C0894EBB6}"/>
              </a:ext>
            </a:extLst>
          </p:cNvPr>
          <p:cNvSpPr>
            <a:spLocks noGrp="1"/>
          </p:cNvSpPr>
          <p:nvPr/>
        </p:nvSpPr>
        <p:spPr>
          <a:xfrm>
            <a:off x="6619875" y="3867150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Actor controls arm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51A37B-3213-4AAA-9EA8-74AB207A1F62}"/>
              </a:ext>
            </a:extLst>
          </p:cNvPr>
          <p:cNvSpPr>
            <a:spLocks noGrp="1"/>
          </p:cNvSpPr>
          <p:nvPr/>
        </p:nvSpPr>
        <p:spPr>
          <a:xfrm>
            <a:off x="6238875" y="4457700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CDD5E1"/>
                </a:solidFill>
              </a:defRPr>
            </a:pPr>
            <a:r>
              <a:rPr sz="1275" b="0">
                <a:solidFill>
                  <a:srgbClr val="CDD5E1"/>
                </a:solidFill>
              </a:rPr>
              <a:t>four continuous actions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1CAE035-D3A4-4DBE-80EC-EA0991BBA62B}"/>
              </a:ext>
            </a:extLst>
          </p:cNvPr>
          <p:cNvSpPr>
            <a:spLocks noGrp="1"/>
          </p:cNvSpPr>
          <p:nvPr/>
        </p:nvSpPr>
        <p:spPr>
          <a:xfrm>
            <a:off x="8715375" y="3714750"/>
            <a:ext cx="2381250" cy="1428750"/>
          </a:xfrm>
          <a:prstGeom prst="roundRect">
            <a:avLst>
              <a:gd name="adj" fmla="val 8000"/>
            </a:avLst>
          </a:prstGeom>
          <a:solidFill>
            <a:srgbClr val="0B1425"/>
          </a:solidFill>
          <a:ln w="14288">
            <a:solidFill>
              <a:srgbClr val="29A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7B012C-F3A1-4FEB-84C9-1A59E8BDA53F}"/>
              </a:ext>
            </a:extLst>
          </p:cNvPr>
          <p:cNvSpPr>
            <a:spLocks noGrp="1"/>
          </p:cNvSpPr>
          <p:nvPr/>
        </p:nvSpPr>
        <p:spPr>
          <a:xfrm>
            <a:off x="8858250" y="38862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00F0C8"/>
                </a:solidFill>
              </a:defRPr>
            </a:pPr>
            <a:r>
              <a:rPr sz="2100" b="1">
                <a:solidFill>
                  <a:srgbClr val="00F0C8"/>
                </a:solidFill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617223-C669-4548-8380-422E86B2523E}"/>
              </a:ext>
            </a:extLst>
          </p:cNvPr>
          <p:cNvSpPr>
            <a:spLocks noGrp="1"/>
          </p:cNvSpPr>
          <p:nvPr/>
        </p:nvSpPr>
        <p:spPr>
          <a:xfrm>
            <a:off x="9286875" y="3867150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Touch is measured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6E4F0E3-DB9F-409D-9221-BD33BECC9D9A}"/>
              </a:ext>
            </a:extLst>
          </p:cNvPr>
          <p:cNvSpPr>
            <a:spLocks noGrp="1"/>
          </p:cNvSpPr>
          <p:nvPr/>
        </p:nvSpPr>
        <p:spPr>
          <a:xfrm>
            <a:off x="8905875" y="4457700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CDD5E1"/>
                </a:solidFill>
              </a:defRPr>
            </a:pPr>
            <a:r>
              <a:rPr sz="1275" b="0">
                <a:solidFill>
                  <a:srgbClr val="CDD5E1"/>
                </a:solidFill>
              </a:rPr>
              <a:t>distance, reward, success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58CDE9-6EB4-4EA6-BBA5-3D98828EE7ED}"/>
              </a:ext>
            </a:extLst>
          </p:cNvPr>
          <p:cNvSpPr>
            <a:spLocks noGrp="1"/>
          </p:cNvSpPr>
          <p:nvPr/>
        </p:nvSpPr>
        <p:spPr>
          <a:xfrm>
            <a:off x="714375" y="5572125"/>
            <a:ext cx="38100" cy="666750"/>
          </a:xfrm>
          <a:prstGeom prst="rect">
            <a:avLst/>
          </a:prstGeom>
          <a:solidFill>
            <a:srgbClr val="00F0C8"/>
          </a:solidFill>
          <a:ln w="0">
            <a:solidFill>
              <a:srgbClr val="00F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498185-A633-4688-AF86-64C6257A10F9}"/>
              </a:ext>
            </a:extLst>
          </p:cNvPr>
          <p:cNvSpPr>
            <a:spLocks noGrp="1"/>
          </p:cNvSpPr>
          <p:nvPr/>
        </p:nvSpPr>
        <p:spPr>
          <a:xfrm>
            <a:off x="952500" y="5610225"/>
            <a:ext cx="9906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Watch the blue target change, the fingertip distance fall, and TOUCH SUCCESS appear without retraining.</a:t>
            </a:r>
          </a:p>
        </p:txBody>
      </p:sp>
    </p:spTree>
    <p:extLst>
      <p:ext uri="{BB962C8B-B14F-4D97-AF65-F5344CB8AC3E}">
        <p14:creationId xmlns:p14="http://schemas.microsoft.com/office/powerpoint/2010/main" val="6004011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857</Words>
  <Application>Microsoft Macintosh PowerPoint</Application>
  <DocSecurity>0</DocSecurity>
  <PresentationFormat>Widescreen</PresentationFormat>
  <Paragraphs>171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Ce Chen</cp:lastModifiedBy>
  <cp:revision>2</cp:revision>
  <dcterms:created xsi:type="dcterms:W3CDTF">2026-08-14T02:23:11Z</dcterms:created>
  <dcterms:modified xsi:type="dcterms:W3CDTF">2026-08-14T03:01:45Z</dcterms:modified>
</cp:coreProperties>
</file>