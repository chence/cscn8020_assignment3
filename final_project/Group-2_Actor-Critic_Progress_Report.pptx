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6bcc413df64b8e" /><Relationship Type="http://schemas.openxmlformats.org/officeDocument/2006/relationships/extended-properties" Target="/docProps/app.xml" Id="Rc4e16249857740e0" /><Relationship Type="http://schemas.openxmlformats.org/officeDocument/2006/relationships/officeDocument" Target="/ppt/presentation.xml" Id="R240ab75082f34f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ff0692a94d4a22"/>
  </p:sldMasterIdLst>
  <p:notesMasterIdLst>
    <p:notesMasterId xmlns:r="http://schemas.openxmlformats.org/officeDocument/2006/relationships" r:id="R47827bb23bf641b1"/>
  </p:notesMasterIdLst>
  <p:sldIdLst>
    <p:sldId xmlns:r="http://schemas.openxmlformats.org/officeDocument/2006/relationships" id="256" r:id="R89eb07624271480d"/>
    <p:sldId xmlns:r="http://schemas.openxmlformats.org/officeDocument/2006/relationships" id="257" r:id="R6a64ee7fe41b4c46"/>
    <p:sldId xmlns:r="http://schemas.openxmlformats.org/officeDocument/2006/relationships" id="258" r:id="Ra04ce03809fa4f2c"/>
    <p:sldId xmlns:r="http://schemas.openxmlformats.org/officeDocument/2006/relationships" id="259" r:id="Rff6fc5abee644af7"/>
    <p:sldId xmlns:r="http://schemas.openxmlformats.org/officeDocument/2006/relationships" id="260" r:id="Ra93fa45140a94399"/>
    <p:sldId xmlns:r="http://schemas.openxmlformats.org/officeDocument/2006/relationships" id="261" r:id="R796985c4d81e4953"/>
    <p:sldId xmlns:r="http://schemas.openxmlformats.org/officeDocument/2006/relationships" id="262" r:id="R5991cb20184249bd"/>
    <p:sldId xmlns:r="http://schemas.openxmlformats.org/officeDocument/2006/relationships" id="263" r:id="Rd8f752a0e85148b4"/>
    <p:sldId xmlns:r="http://schemas.openxmlformats.org/officeDocument/2006/relationships" id="264" r:id="R0a815674fcec436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44250849cc4656" /><Relationship Type="http://schemas.openxmlformats.org/officeDocument/2006/relationships/slideMaster" Target="/ppt/slideMasters/slideMaster1.xml" Id="R68ff0692a94d4a22" /><Relationship Type="http://schemas.openxmlformats.org/officeDocument/2006/relationships/notesMaster" Target="/ppt/notesMasters/notesMaster1.xml" Id="R47827bb23bf641b1" /><Relationship Type="http://schemas.openxmlformats.org/officeDocument/2006/relationships/presProps" Target="/ppt/presProps.xml" Id="Re808983d555c4d94" /><Relationship Type="http://schemas.openxmlformats.org/officeDocument/2006/relationships/tableStyles" Target="/ppt/tableStyles.xml" Id="R9378a1040c9c4f34" /><Relationship Type="http://schemas.openxmlformats.org/officeDocument/2006/relationships/slide" Target="/ppt/slides/slide1.xml" Id="R89eb07624271480d" /><Relationship Type="http://schemas.openxmlformats.org/officeDocument/2006/relationships/slide" Target="/ppt/slides/slide2.xml" Id="R6a64ee7fe41b4c46" /><Relationship Type="http://schemas.openxmlformats.org/officeDocument/2006/relationships/slide" Target="/ppt/slides/slide3.xml" Id="Ra04ce03809fa4f2c" /><Relationship Type="http://schemas.openxmlformats.org/officeDocument/2006/relationships/slide" Target="/ppt/slides/slide4.xml" Id="Rff6fc5abee644af7" /><Relationship Type="http://schemas.openxmlformats.org/officeDocument/2006/relationships/slide" Target="/ppt/slides/slide5.xml" Id="Ra93fa45140a94399" /><Relationship Type="http://schemas.openxmlformats.org/officeDocument/2006/relationships/slide" Target="/ppt/slides/slide6.xml" Id="R796985c4d81e4953" /><Relationship Type="http://schemas.openxmlformats.org/officeDocument/2006/relationships/slide" Target="/ppt/slides/slide7.xml" Id="R5991cb20184249bd" /><Relationship Type="http://schemas.openxmlformats.org/officeDocument/2006/relationships/slide" Target="/ppt/slides/slide8.xml" Id="Rd8f752a0e85148b4" /><Relationship Type="http://schemas.openxmlformats.org/officeDocument/2006/relationships/slide" Target="/ppt/slides/slide9.xml" Id="R0a815674fcec43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06a5b9ba4545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2d36e397f34329" /><Relationship Type="http://schemas.openxmlformats.org/officeDocument/2006/relationships/notesMaster" Target="/ppt/notesMasters/notesMaster1.xml" Id="R72c66d5437934d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313b5d55c9475f" /><Relationship Type="http://schemas.openxmlformats.org/officeDocument/2006/relationships/notesMaster" Target="/ppt/notesMasters/notesMaster1.xml" Id="R96e2597fe6464f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0f44d5371f4757" /><Relationship Type="http://schemas.openxmlformats.org/officeDocument/2006/relationships/notesMaster" Target="/ppt/notesMasters/notesMaster1.xml" Id="Re09a9a5afbaf46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660f3ccb914f2c" /><Relationship Type="http://schemas.openxmlformats.org/officeDocument/2006/relationships/notesMaster" Target="/ppt/notesMasters/notesMaster1.xml" Id="R9cafb69fcc1b49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5446ffb12a42f0" /><Relationship Type="http://schemas.openxmlformats.org/officeDocument/2006/relationships/notesMaster" Target="/ppt/notesMasters/notesMaster1.xml" Id="R6872db9000c741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59565f80f8466e" /><Relationship Type="http://schemas.openxmlformats.org/officeDocument/2006/relationships/notesMaster" Target="/ppt/notesMasters/notesMaster1.xml" Id="Ra61c1fc0d8dc4c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8d23b0013994b4a" /><Relationship Type="http://schemas.openxmlformats.org/officeDocument/2006/relationships/notesMaster" Target="/ppt/notesMasters/notesMaster1.xml" Id="R363ce7a81d864e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dd362f5ea04218" /><Relationship Type="http://schemas.openxmlformats.org/officeDocument/2006/relationships/notesMaster" Target="/ppt/notesMasters/notesMaster1.xml" Id="Rbbab8611ca0548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bb36e79e384d0e" /><Relationship Type="http://schemas.openxmlformats.org/officeDocument/2006/relationships/notesMaster" Target="/ppt/notesMasters/notesMaster1.xml" Id="R92193e37c68945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73a59ca33042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73c75e28724e37" /><Relationship Type="http://schemas.openxmlformats.org/officeDocument/2006/relationships/slideLayout" Target="/ppt/slideLayouts/slideLayout1.xml" Id="Rb83e9c3ee82143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3e9c3ee82143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9f127bf2b4c9b" /><Relationship Type="http://schemas.openxmlformats.org/officeDocument/2006/relationships/image" Target="/ppt/media/image.jpeg" Id="Ra7b9221729ae4b70" /><Relationship Type="http://schemas.openxmlformats.org/officeDocument/2006/relationships/notesSlide" Target="/ppt/notesSlides/notesSlide1.xml" Id="Rbfa2edb55d7e4c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f63526bde4959" /><Relationship Type="http://schemas.openxmlformats.org/officeDocument/2006/relationships/notesSlide" Target="/ppt/notesSlides/notesSlide2.xml" Id="Reac92feb64b548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dad0af5b14c7d" /><Relationship Type="http://schemas.openxmlformats.org/officeDocument/2006/relationships/notesSlide" Target="/ppt/notesSlides/notesSlide3.xml" Id="Rdf190f1f3a9d46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a742d589f848ff" /><Relationship Type="http://schemas.openxmlformats.org/officeDocument/2006/relationships/notesSlide" Target="/ppt/notesSlides/notesSlide4.xml" Id="R36ee6c522ac44d7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ed23236c64920" /><Relationship Type="http://schemas.openxmlformats.org/officeDocument/2006/relationships/notesSlide" Target="/ppt/notesSlides/notesSlide5.xml" Id="Rf30a803c9d9d4b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ef1bc215d4ee6" /><Relationship Type="http://schemas.openxmlformats.org/officeDocument/2006/relationships/notesSlide" Target="/ppt/notesSlides/notesSlide6.xml" Id="R5b4ec2a802234e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eea6eed1a4b0e" /><Relationship Type="http://schemas.openxmlformats.org/officeDocument/2006/relationships/chart" Target="/ppt/slides/charts/chart1.xml" Id="Rc2e00feefce4441e" /><Relationship Type="http://schemas.openxmlformats.org/officeDocument/2006/relationships/notesSlide" Target="/ppt/notesSlides/notesSlide7.xml" Id="Rf15f35edc56849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7d18a072e4efa" /><Relationship Type="http://schemas.openxmlformats.org/officeDocument/2006/relationships/notesSlide" Target="/ppt/notesSlides/notesSlide8.xml" Id="Re75b00171d254d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f78e3b59b4b53" /><Relationship Type="http://schemas.openxmlformats.org/officeDocument/2006/relationships/notesSlide" Target="/ppt/notesSlides/notesSlide9.xml" Id="R05ee1f1eca264506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Validation success (%)</c:v>
          </c:tx>
          <c:spPr>
            <a:solidFill xmlns:a="http://schemas.openxmlformats.org/drawingml/2006/main">
              <a:srgbClr val="00F0C8"/>
            </a:solidFill>
          </c:spPr>
          <c:marker>
            <c:symbol val="none"/>
          </c:marker>
          <c:dLbls/>
          <c:cat>
            <c:numLit>
              <c:formatCode>General</c:formatCode>
              <c:ptCount val="8"/>
              <c:pt idx="0">
                <c:v>5</c:v>
              </c:pt>
              <c:pt idx="1">
                <c:v>10</c:v>
              </c:pt>
              <c:pt idx="2">
                <c:v>15</c:v>
              </c:pt>
              <c:pt idx="3">
                <c:v>20</c:v>
              </c:pt>
              <c:pt idx="4">
                <c:v>25</c:v>
              </c:pt>
              <c:pt idx="5">
                <c:v>30</c:v>
              </c:pt>
              <c:pt idx="6">
                <c:v>35</c:v>
              </c:pt>
              <c:pt idx="7">
                <c:v>40</c:v>
              </c:pt>
            </c:numLit>
          </c:cat>
          <c:val>
            <c:numLit>
              <c:formatCode>General</c:formatCode>
              <c:ptCount val="8"/>
              <c:pt idx="0">
                <c:v>40</c:v>
              </c:pt>
              <c:pt idx="1">
                <c:v>0</c:v>
              </c:pt>
              <c:pt idx="2">
                <c:v>70</c:v>
              </c:pt>
              <c:pt idx="3">
                <c:v>100</c:v>
              </c:pt>
              <c:pt idx="4">
                <c:v>100</c:v>
              </c:pt>
              <c:pt idx="5">
                <c:v>100</c:v>
              </c:pt>
              <c:pt idx="6">
                <c:v>100</c:v>
              </c:pt>
              <c:pt idx="7">
                <c:v>100</c:v>
              </c:pt>
            </c:numLit>
          </c:val>
          <c:smooth val="0"/>
        </c:ser>
        <c:dLbls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/>
                  <a:t>PPO update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3A475C"/>
              </a:solidFill>
              <a:prstDash val="solid"/>
            </a:ln>
          </c:spPr>
        </c:majorGridlines>
        <c:numFmt formatCode="General"/>
        <c:majorUnit val="25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9221729ae4b70"/>
          <a:srcRect xmlns:a="http://schemas.openxmlformats.org/drawingml/2006/main" l="9608" t="0" r="960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685800"/>
            <a:ext cx="3143250" cy="54673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00239-1688-4AB9-8D76-D3D7C7F9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704850"/>
            <a:ext cx="2381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3EBEEB-B49B-4119-9F6C-CD1D03F4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723900"/>
            <a:ext cx="2238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CSCN8020 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FD7D6-75C9-4E24-8E3F-AEA82A45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381125"/>
            <a:ext cx="676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F7FB"/>
                </a:solidFill>
              </a:defRPr>
            </a:pPr>
            <a:r>
              <a:rPr sz="3600" b="1">
                <a:solidFill>
                  <a:srgbClr val="F4F7FB"/>
                </a:solidFill>
              </a:rPr>
              <a:t>Unitree G1 Actor-Critic</a:t>
            </a:r>
          </a:p>
          <a:p xmlns:a="http://schemas.openxmlformats.org/drawingml/2006/main">
            <a:pPr algn="l">
              <a:defRPr sz="3600" b="1">
                <a:solidFill>
                  <a:srgbClr val="F4F7FB"/>
                </a:solidFill>
              </a:defRPr>
            </a:pPr>
            <a:r>
              <a:rPr sz="3600" b="1">
                <a:solidFill>
                  <a:srgbClr val="F4F7FB"/>
                </a:solidFill>
              </a:rPr>
              <a:t>Reach-and-Touch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4BF22-ACEF-4048-9AFB-B06032AF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781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DD5E1"/>
                </a:solidFill>
              </a:defRPr>
            </a:pPr>
            <a:r>
              <a:rPr sz="1800" b="1">
                <a:solidFill>
                  <a:srgbClr val="CDD5E1"/>
                </a:solidFill>
              </a:rPr>
              <a:t>Project Progress Report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A20D7-60A4-4A67-8160-C314C05F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324225"/>
            <a:ext cx="685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93EFEC-4C61-4688-BFBE-5093AD86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00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7FB"/>
                </a:solidFill>
              </a:defRPr>
            </a:pPr>
            <a:r>
              <a:rPr sz="1575" b="1">
                <a:solidFill>
                  <a:srgbClr val="F4F7FB"/>
                </a:solidFill>
              </a:rPr>
              <a:t>Group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13395C-3FE5-4C78-AFEB-E85B6A7B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386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Haibo Yuan  |  Ce Chen  |  Zhuoran Zhang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9B7E07-6378-4A46-94AD-01C81413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7244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8FA1B7"/>
                </a:solidFill>
              </a:defRPr>
            </a:pPr>
            <a:r>
              <a:rPr sz="1725" b="0">
                <a:solidFill>
                  <a:srgbClr val="8FA1B7"/>
                </a:solidFill>
              </a:rPr>
              <a:t>A learned policy that adapts to different reachable targets</a:t>
            </a:r>
          </a:p>
        </p:txBody>
      </p:sp>
    </p:spTree>
    <p:extLst>
      <p:ext uri="{BB962C8B-B14F-4D97-AF65-F5344CB8AC3E}">
        <p14:creationId xmlns:p14="http://schemas.microsoft.com/office/powerpoint/2010/main" val="19625662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21545255-3F9D-4045-9F84-4A75BF37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"/>
            <a:ext cx="2190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12494-0A39-4310-9ADE-F99C9327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— CURRENT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39667A-B418-4851-AD35-DEB83546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3429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F7FB"/>
                </a:solidFill>
              </a:defRPr>
            </a:pPr>
            <a:r>
              <a:rPr sz="975" b="1">
                <a:solidFill>
                  <a:srgbClr val="F4F7FB"/>
                </a:solidFill>
              </a:rPr>
              <a:t>02</a:t>
            </a:r>
          </a:p>
        </p:txBody>
      </p:sp>
      <p:sp>
        <p:nvSpPr>
          <p:cNvPr id="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87C92FA5-41D6-4C7A-84F8-AC3408BD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</a:defRPr>
            </a:pPr>
            <a:r>
              <a:rPr sz="2700" b="1">
                <a:solidFill>
                  <a:srgbClr val="F4F7FB"/>
                </a:solidFill>
              </a:rPr>
              <a:t>The learned policy now reaches different blue targets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3F669-67FD-4791-962B-6E12418E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E47731-ED55-47AF-B8E0-7AE39CA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62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Current milestone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3B5C2-7A95-4394-A6E5-3337A0BA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050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PPO Actor-Critic controls the left arm while the Inspire hand remains in a validated pointing pose.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4F15F-9C98-48FB-9D2B-B8D217CB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62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Target-conditioned behavior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99BEB3-68E6-4AF2-8A51-34EB5994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A new reachable 3D target is generated each episode and included in the state.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84638D-C9BE-4307-8D47-2A584464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4F7FB"/>
                </a:solidFill>
              </a:defRPr>
            </a:pPr>
            <a:r>
              <a:rPr sz="3450" b="1">
                <a:solidFill>
                  <a:srgbClr val="F4F7FB"/>
                </a:solidFill>
              </a:rPr>
              <a:t>100/100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6DE47-C3FD-41C0-894E-A1F1A61D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Independent successes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D1C7CB-535A-4CFB-8B84-F91AF09D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90950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8FA1B7"/>
                </a:solidFill>
              </a:defRPr>
            </a:pPr>
            <a:r>
              <a:rPr sz="1125" b="0">
                <a:solidFill>
                  <a:srgbClr val="8FA1B7"/>
                </a:solidFill>
              </a:rPr>
              <a:t>randomized evaluation targets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09FDD2-4827-4690-882C-619ADF6D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4F7FB"/>
                </a:solidFill>
              </a:defRPr>
            </a:pPr>
            <a:r>
              <a:rPr sz="3450" b="1">
                <a:solidFill>
                  <a:srgbClr val="F4F7FB"/>
                </a:solidFill>
              </a:rPr>
              <a:t>0.0185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F77E82-475B-4BC5-AE97-217E88D7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4805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Mean minimum distance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38F213-27EE-43C7-81A9-9EF89540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90950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8FA1B7"/>
                </a:solidFill>
              </a:defRPr>
            </a:pPr>
            <a:r>
              <a:rPr sz="1125" b="0">
                <a:solidFill>
                  <a:srgbClr val="8FA1B7"/>
                </a:solidFill>
              </a:rPr>
              <a:t>touch tolerance = 0.045 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405B6A-91A4-4C0C-9185-CDAE87DA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62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4F7FB"/>
                </a:solidFill>
              </a:defRPr>
            </a:pPr>
            <a:r>
              <a:rPr sz="3450" b="1">
                <a:solidFill>
                  <a:srgbClr val="F4F7FB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7AD92-58A5-4A54-AF95-D0C86D3C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Controlled arm joints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FE96C-65A5-4893-B77D-1344C8A8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8FA1B7"/>
                </a:solidFill>
              </a:defRPr>
            </a:pPr>
            <a:r>
              <a:rPr sz="1125" b="0">
                <a:solidFill>
                  <a:srgbClr val="8FA1B7"/>
                </a:solidFill>
              </a:rPr>
              <a:t>continuous Actor 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571D66-ECA6-4C8D-B3C6-DBDD6C22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624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5C1F91-B1CF-4A4C-84E3-F4170378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7FB"/>
                </a:solidFill>
              </a:defRPr>
            </a:pPr>
            <a:r>
              <a:rPr sz="1425" b="1">
                <a:solidFill>
                  <a:srgbClr val="F4F7FB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B201C5-BF11-4208-8FDE-3EB750B1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95850"/>
            <a:ext cx="5191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DD5E1"/>
                </a:solidFill>
              </a:defRPr>
            </a:pPr>
            <a:r>
              <a:rPr sz="1425" b="0">
                <a:solidFill>
                  <a:srgbClr val="CDD5E1"/>
                </a:solidFill>
              </a:rPr>
              <a:t>Saved checkpoint selected at PPO update 35; deterministic evaluation uses separate seeds.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35B3B9-1DBB-4E61-8EBB-1D6462B4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72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7FB"/>
                </a:solidFill>
              </a:defRPr>
            </a:pPr>
            <a:r>
              <a:rPr sz="1425" b="1">
                <a:solidFill>
                  <a:srgbClr val="F4F7FB"/>
                </a:solidFill>
              </a:rPr>
              <a:t>Scope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559025-9E07-41FC-9409-BD0A65C9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95850"/>
            <a:ext cx="476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DD5E1"/>
                </a:solidFill>
              </a:defRPr>
            </a:pPr>
            <a:r>
              <a:rPr sz="1425" b="0">
                <a:solidFill>
                  <a:srgbClr val="CDD5E1"/>
                </a:solidFill>
              </a:rPr>
              <a:t>This is a kinematic reaching baseline with virtual touch, not torque control or detailed physical contact.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A1ECEF-8546-47FA-BEA0-7E0FC58F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38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C8"/>
          </a:solidFill>
          <a:ln xmlns:a="http://schemas.openxmlformats.org/drawingml/2006/main" w="0">
            <a:solidFill>
              <a:srgbClr val="00F0C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54A838-AAB4-4529-91AF-7033EA40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245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7FB"/>
                </a:solidFill>
              </a:defRPr>
            </a:pPr>
            <a:r>
              <a:rPr sz="1575" b="1">
                <a:solidFill>
                  <a:srgbClr val="F4F7FB"/>
                </a:solidFill>
              </a:rPr>
              <a:t>The target changes, the state changes, and the Actor produces a different joint trajectory.</a:t>
            </a:r>
          </a:p>
        </p:txBody>
      </p:sp>
    </p:spTree>
    <p:extLst>
      <p:ext uri="{BB962C8B-B14F-4D97-AF65-F5344CB8AC3E}">
        <p14:creationId xmlns:p14="http://schemas.microsoft.com/office/powerpoint/2010/main" val="1956628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67426F2-BBF1-4223-94C4-F7795904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"/>
            <a:ext cx="21050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C4E24-9500-4F60-AB71-23CB63B2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— WHAT THE ROBOT LEARNS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09B46-270A-4701-B525-1CC2C008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3429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F7FB"/>
                </a:solidFill>
              </a:defRPr>
            </a:pPr>
            <a:r>
              <a:rPr sz="975" b="1">
                <a:solidFill>
                  <a:srgbClr val="F4F7FB"/>
                </a:solidFill>
              </a:rPr>
              <a:t>03</a:t>
            </a:r>
          </a:p>
        </p:txBody>
      </p:sp>
      <p:sp>
        <p:nvSpPr>
          <p:cNvPr id="4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8EE69978-8474-4BBC-94FE-F157AA9C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</a:defRPr>
            </a:pPr>
            <a:r>
              <a:rPr sz="2700" b="1">
                <a:solidFill>
                  <a:srgbClr val="F4F7FB"/>
                </a:solidFill>
              </a:rPr>
              <a:t>The Actor learns a target-conditioned reaching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F6B32-077D-4B2F-88C2-30ECE066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8AF487-F02A-4116-89ED-B941115D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2333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618E2F-9B6E-47C8-A56B-A19BECD1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Observe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A42C92-716D-4B6B-9D7E-7781E5BD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57500"/>
            <a:ext cx="1952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Robot joints, fingertip,</a:t>
            </a:r>
          </a:p>
          <a:p xmlns:a="http://schemas.openxmlformats.org/drawingml/2006/main">
            <a:pPr algn="ctr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blue target and relative error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DAAEB-34D7-48F1-8135-DD28AA10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38375"/>
            <a:ext cx="2333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1EC78-F25C-4B4C-AB77-DD445D53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8125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69E463-E30D-4B10-B2FB-25D4AB91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57500"/>
            <a:ext cx="1952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Four continuous joint-position</a:t>
            </a:r>
          </a:p>
          <a:p xmlns:a="http://schemas.openxmlformats.org/drawingml/2006/main">
            <a:pPr algn="ctr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increments from the Actor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51CEA-00C9-4ED8-8D97-EAC34E02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2333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A70D9-8A20-4C0D-91D6-E4CE6982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Evaluate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116E18-9288-42CD-B28D-637EBCD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1952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Critic estimates V(s) and</a:t>
            </a:r>
          </a:p>
          <a:p xmlns:a="http://schemas.openxmlformats.org/drawingml/2006/main">
            <a:pPr algn="ctr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PPO computes an advantage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C39ADC-9A2A-4A35-B39D-62F11B4C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38375"/>
            <a:ext cx="2333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89AFC-56FE-4F0B-9D19-5DD46298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8125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Improve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FFB9D-FD58-4A8D-A37A-A7EDC01D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57500"/>
            <a:ext cx="1952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Increase probability of actions</a:t>
            </a:r>
          </a:p>
          <a:p xmlns:a="http://schemas.openxmlformats.org/drawingml/2006/main">
            <a:pPr algn="ctr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that produce higher return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12A96F-EA38-4C05-BAA0-4A8FA875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33875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F0C8"/>
                </a:solidFill>
              </a:defRPr>
            </a:pPr>
            <a:r>
              <a:rPr sz="2550" b="1">
                <a:solidFill>
                  <a:srgbClr val="00F0C8"/>
                </a:solidFill>
              </a:rPr>
              <a:t>sₜ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2B39E2-C8F0-442E-B9DC-26BDB3C5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3387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29A9FF"/>
                </a:solidFill>
              </a:defRPr>
            </a:pPr>
            <a:r>
              <a:rPr sz="2400" b="0">
                <a:solidFill>
                  <a:srgbClr val="29A9FF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6CA469-6090-4B9F-B3E1-9673BA41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33875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aₜ ~ πθ(a|sₜ)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A9EAE-7923-499B-B087-EB69FE20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3387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29A9FF"/>
                </a:solidFill>
              </a:defRPr>
            </a:pPr>
            <a:r>
              <a:rPr sz="2400" b="0">
                <a:solidFill>
                  <a:srgbClr val="29A9FF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9C0CE5-7579-446F-A384-30BBA277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333875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rₜ , sₜ₊₁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A60CA9-9113-483D-999F-2570DF90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3387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29A9FF"/>
                </a:solidFill>
              </a:defRPr>
            </a:pPr>
            <a:r>
              <a:rPr sz="2400" b="0">
                <a:solidFill>
                  <a:srgbClr val="29A9FF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1E24B1-1C1B-45E6-97E2-5A7AE4BC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333875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F0C8"/>
                </a:solidFill>
              </a:defRPr>
            </a:pPr>
            <a:r>
              <a:rPr sz="2550" b="1">
                <a:solidFill>
                  <a:srgbClr val="00F0C8"/>
                </a:solidFill>
              </a:rPr>
              <a:t>δₜ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D5038D-E13F-4FC8-9B74-453A7E0C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381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C8"/>
          </a:solidFill>
          <a:ln xmlns:a="http://schemas.openxmlformats.org/drawingml/2006/main" w="0">
            <a:solidFill>
              <a:srgbClr val="00F0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F50A14-6FDF-4A5A-B96F-F32CAA0E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102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Learning means the same saved Actor can reach different targets because target position is part of its input.</a:t>
            </a:r>
          </a:p>
        </p:txBody>
      </p:sp>
    </p:spTree>
    <p:extLst>
      <p:ext uri="{BB962C8B-B14F-4D97-AF65-F5344CB8AC3E}">
        <p14:creationId xmlns:p14="http://schemas.microsoft.com/office/powerpoint/2010/main" val="9932225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422FD099-9D63-4798-B75A-41BA6CE8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"/>
            <a:ext cx="15049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32255-B833-4A7B-91BE-3F760855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— MDP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872E2-E0FD-4C9F-B416-D36E4BD4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3429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F7FB"/>
                </a:solidFill>
              </a:defRPr>
            </a:pPr>
            <a:r>
              <a:rPr sz="975" b="1">
                <a:solidFill>
                  <a:srgbClr val="F4F7FB"/>
                </a:solidFill>
              </a:rPr>
              <a:t>04</a:t>
            </a:r>
          </a:p>
        </p:txBody>
      </p:sp>
      <p:sp>
        <p:nvSpPr>
          <p:cNvPr id="4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88FA15B1-4D01-4A52-8E88-38FA7902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The state explicitly describes the robot and its target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87C22-854E-42C7-9D8E-D6DD29AD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0D5F6-B974-47FE-9EA2-F35C3DB4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81200"/>
            <a:ext cx="1076325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BA45B3-A9CD-4B91-AE30-48AE7B3C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State  sₜ = [ qₜ, q̇ₜ, pᵗⁱᵖₜ, pᵗᵃʳᵍᵉᵗ, Δpₜ, dₜ, hₜ ] ∈ ℝ¹⁹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C32F43-01AD-4D34-BA03-82CEBC2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194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A2C"/>
          </a:solidFill>
          <a:ln xmlns:a="http://schemas.openxmlformats.org/drawingml/2006/main" w="11430">
            <a:solidFill>
              <a:srgbClr val="3A475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D958FF-402E-4FF8-8D84-705CBE89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333750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qₜ ∈ ℝ⁴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34235-70BE-4034-9CE8-1A5222C7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743325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Controlled joint angles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942C5-124D-4237-8BB0-B753C699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2194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A2C"/>
          </a:solidFill>
          <a:ln xmlns:a="http://schemas.openxmlformats.org/drawingml/2006/main" w="11430">
            <a:solidFill>
              <a:srgbClr val="3A475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669640-A701-4403-900D-FAFF0824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333750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q̇ₜ ∈ ℝ⁴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599CBA-7AB3-4350-9BE1-A01970EE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743325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Controlled joint velocities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538EA-A479-43A6-9589-3C8B745E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2194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A2C"/>
          </a:solidFill>
          <a:ln xmlns:a="http://schemas.openxmlformats.org/drawingml/2006/main" w="11430">
            <a:solidFill>
              <a:srgbClr val="3A475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64609-E24D-49DE-BE27-33FD5DCD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333750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pᵗⁱᵖ, pᵗᵃʳᵍᵉᵗ ∈ ℝ³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83C68B-D3ED-4CB1-AC2B-37A566E1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43325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Fingertip and blue-target positions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DFD9ED-4F75-4780-BA52-CF01BC80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2194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A2C"/>
          </a:solidFill>
          <a:ln xmlns:a="http://schemas.openxmlformats.org/drawingml/2006/main" w="11430">
            <a:solidFill>
              <a:srgbClr val="3A475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44B991-A133-4A8B-9032-CF43E345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333750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Δpₜ ∈ ℝ³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80309-DA76-4649-9FDE-1C3FA222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743325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Target minus fingertip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DA67AC-B856-4691-A566-AB560FCE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19625"/>
            <a:ext cx="3714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A2C"/>
          </a:solidFill>
          <a:ln xmlns:a="http://schemas.openxmlformats.org/drawingml/2006/main" w="11430">
            <a:solidFill>
              <a:srgbClr val="29A9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26A373-6568-49FD-A73B-8000F201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733925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dₜ = ‖Δpₜ‖₂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0D4106-12A9-4B86-8C17-5B20B27D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14350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Euclidean fingertip distance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22AD7C-261D-4503-AC7F-6123256C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19625"/>
            <a:ext cx="3714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A2C"/>
          </a:solidFill>
          <a:ln xmlns:a="http://schemas.openxmlformats.org/drawingml/2006/main" w="11430">
            <a:solidFill>
              <a:srgbClr val="29A9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E284E3-50E1-4485-BCC0-8929283F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733925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hₜ ∈ [0,1]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E42C73-F9EC-4A94-BC9E-7F916058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14350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Normalized touch-hold progress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B11431-27AD-477E-92B0-67C40D5B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81700"/>
            <a:ext cx="38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C8"/>
          </a:solidFill>
          <a:ln xmlns:a="http://schemas.openxmlformats.org/drawingml/2006/main" w="0">
            <a:solidFill>
              <a:srgbClr val="00F0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D4EAE8-BA0C-4034-B485-62935BBD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10275"/>
            <a:ext cx="1009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7FB"/>
                </a:solidFill>
              </a:defRPr>
            </a:pPr>
            <a:r>
              <a:rPr sz="1575" b="1">
                <a:solidFill>
                  <a:srgbClr val="F4F7FB"/>
                </a:solidFill>
              </a:rPr>
              <a:t>Including pᵗᵃʳᵍᵉᵗ and Δpₜ is what lets the policy react when the blue target moves.</a:t>
            </a:r>
          </a:p>
        </p:txBody>
      </p:sp>
    </p:spTree>
    <p:extLst>
      <p:ext uri="{BB962C8B-B14F-4D97-AF65-F5344CB8AC3E}">
        <p14:creationId xmlns:p14="http://schemas.microsoft.com/office/powerpoint/2010/main" val="16772031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E3CBCF56-1EB0-438C-8D96-64F035ED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"/>
            <a:ext cx="25336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60F36-7EB6-4899-B8EA-AF1B5E8B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— ACTOR-CRITIC LEARNING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1F40B-69CA-4A00-B7FC-6E651081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3429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F7FB"/>
                </a:solidFill>
              </a:defRPr>
            </a:pPr>
            <a:r>
              <a:rPr sz="975" b="1">
                <a:solidFill>
                  <a:srgbClr val="F4F7FB"/>
                </a:solidFill>
              </a:rPr>
              <a:t>05</a:t>
            </a:r>
          </a:p>
        </p:txBody>
      </p:sp>
      <p:sp>
        <p:nvSpPr>
          <p:cNvPr id="4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301000DA-B677-4A2C-8246-F1BE4650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</a:defRPr>
            </a:pPr>
            <a:r>
              <a:rPr sz="2700" b="1">
                <a:solidFill>
                  <a:srgbClr val="F4F7FB"/>
                </a:solidFill>
              </a:rPr>
              <a:t>Actor and Critic improve together through PPO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5DFF6-E505-45CA-967A-889CE085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5DDE5-BEFC-4EF1-B5FF-07786C77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9050">
            <a:solidFill>
              <a:srgbClr val="00F0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66152A-22EE-4D28-94ED-3E556C36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95575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4F7FB"/>
                </a:solidFill>
              </a:defRPr>
            </a:pPr>
            <a:r>
              <a:rPr sz="1800" b="1">
                <a:solidFill>
                  <a:srgbClr val="F4F7FB"/>
                </a:solidFill>
              </a:rPr>
              <a:t>State sₜ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DCB245-CBE1-449B-A144-93E2670E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9925"/>
            <a:ext cx="1543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19-value observation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CBC7A-0B62-4F20-A8A6-321FDFA2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52412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9050">
            <a:solidFill>
              <a:srgbClr val="29A9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5A7C4-FDE7-4B8D-90D1-BD9B700F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95575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4F7FB"/>
                </a:solidFill>
              </a:defRPr>
            </a:pPr>
            <a:r>
              <a:rPr sz="1800" b="1">
                <a:solidFill>
                  <a:srgbClr val="F4F7FB"/>
                </a:solidFill>
              </a:rPr>
              <a:t>Actor πθ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FDA3A8-EF7F-4FBD-BEA7-A807670C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209925"/>
            <a:ext cx="1543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selects action aₜ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AEA2BF-D9FB-49B4-B9AD-7439C090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2412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9050">
            <a:solidFill>
              <a:srgbClr val="00F0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C7B92-4FB1-405B-BD63-E27C5289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95575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4F7FB"/>
                </a:solidFill>
              </a:defRPr>
            </a:pPr>
            <a:r>
              <a:rPr sz="1800" b="1">
                <a:solidFill>
                  <a:srgbClr val="F4F7FB"/>
                </a:solidFill>
              </a:rPr>
              <a:t>MuJoCo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B015D1-1395-4005-BA6D-F61FB485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09925"/>
            <a:ext cx="1543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returns rₜ, sₜ₊₁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3FEDC-B936-45E0-9004-68DB16A7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52412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9050">
            <a:solidFill>
              <a:srgbClr val="29A9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7CCF70-6FE0-49FF-8899-D0AE9924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695575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4F7FB"/>
                </a:solidFill>
              </a:defRPr>
            </a:pPr>
            <a:r>
              <a:rPr sz="1800" b="1">
                <a:solidFill>
                  <a:srgbClr val="F4F7FB"/>
                </a:solidFill>
              </a:rPr>
              <a:t>Critic Vφ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70A920-7294-4CB9-A1CC-99F09279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209925"/>
            <a:ext cx="1543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estimates state value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4A3B16-C19F-41AD-A34E-8B241007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24125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9050">
            <a:solidFill>
              <a:srgbClr val="00F0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BA5147-3A53-4392-905A-63871487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95575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4F7FB"/>
                </a:solidFill>
              </a:defRPr>
            </a:pPr>
            <a:r>
              <a:rPr sz="1800" b="1">
                <a:solidFill>
                  <a:srgbClr val="F4F7FB"/>
                </a:solidFill>
              </a:rPr>
              <a:t>PPO update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7BA059-854C-4309-BA2D-8731F034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09925"/>
            <a:ext cx="1543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improves θ and 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8D3F90-FF84-435C-9167-1BDE419C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05125"/>
            <a:ext cx="428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F4F7FB"/>
                </a:solidFill>
              </a:defRPr>
            </a:pPr>
            <a:r>
              <a:rPr sz="2550" b="0">
                <a:solidFill>
                  <a:srgbClr val="F4F7FB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71E5F9-08EC-42BB-8829-07E49C4B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905125"/>
            <a:ext cx="428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F4F7FB"/>
                </a:solidFill>
              </a:defRPr>
            </a:pPr>
            <a:r>
              <a:rPr sz="2550" b="0">
                <a:solidFill>
                  <a:srgbClr val="F4F7FB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6E964B-3CA8-4A37-859C-E670D154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05125"/>
            <a:ext cx="428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F4F7FB"/>
                </a:solidFill>
              </a:defRPr>
            </a:pPr>
            <a:r>
              <a:rPr sz="2550" b="0">
                <a:solidFill>
                  <a:srgbClr val="F4F7FB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BAC219-6992-4EAD-AF7F-166D8E6C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905125"/>
            <a:ext cx="428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F4F7FB"/>
                </a:solidFill>
              </a:defRPr>
            </a:pPr>
            <a:r>
              <a:rPr sz="2550" b="0">
                <a:solidFill>
                  <a:srgbClr val="F4F7FB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2022A1-C725-4F8F-955A-E56AB2C5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29125"/>
            <a:ext cx="3810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A2C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0F9808-660A-4FCC-A2E1-54472BF8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543425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7FB"/>
                </a:solidFill>
              </a:defRPr>
            </a:pPr>
            <a:r>
              <a:rPr sz="1575" b="1">
                <a:solidFill>
                  <a:srgbClr val="F4F7FB"/>
                </a:solidFill>
              </a:rPr>
              <a:t>Training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61D0C-FAC2-4D5D-B8C8-773F6F27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149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Stochastic Gaussian actions</a:t>
            </a:r>
          </a:p>
          <a:p xmlns:a="http://schemas.openxmlformats.org/drawingml/2006/main">
            <a:pPr algn="l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PPO clipped policy update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524384-B7A0-4B43-AC50-43BFF3F3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29125"/>
            <a:ext cx="3810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A2C"/>
          </a:solidFill>
          <a:ln xmlns:a="http://schemas.openxmlformats.org/drawingml/2006/main" w="14288">
            <a:solidFill>
              <a:srgbClr val="29A9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A01AB9-3F70-4C0E-A633-8A5000D1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4342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7FB"/>
                </a:solidFill>
              </a:defRPr>
            </a:pPr>
            <a:r>
              <a:rPr sz="1575" b="1">
                <a:solidFill>
                  <a:srgbClr val="F4F7FB"/>
                </a:solidFill>
              </a:rPr>
              <a:t>Evaluation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7C7142-9660-4E13-9A81-33F6546E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149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Deterministic Actor mean</a:t>
            </a:r>
          </a:p>
          <a:p xmlns:a="http://schemas.openxmlformats.org/drawingml/2006/main">
            <a:pPr algn="l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No exploration and no retraining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4941EB-8DB0-44C0-AB0E-0A2796C0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57875"/>
            <a:ext cx="38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C8"/>
          </a:solidFill>
          <a:ln xmlns:a="http://schemas.openxmlformats.org/drawingml/2006/main" w="0">
            <a:solidFill>
              <a:srgbClr val="00F0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759681-0F9D-4B17-90F2-0529B060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895975"/>
            <a:ext cx="1009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The Actor chooses actions; the Critic supplies the learning signal. They are not DQN online and target networks.</a:t>
            </a:r>
          </a:p>
        </p:txBody>
      </p:sp>
    </p:spTree>
    <p:extLst>
      <p:ext uri="{BB962C8B-B14F-4D97-AF65-F5344CB8AC3E}">
        <p14:creationId xmlns:p14="http://schemas.microsoft.com/office/powerpoint/2010/main" val="20785070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ECAE7455-4C40-4B86-BCC2-10C037BB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"/>
            <a:ext cx="1428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64AB2-442F-468E-BD56-02391EB6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— MATH TO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E5E702-DDD1-4ED2-A51E-DBE4F1ED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3429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F7FB"/>
                </a:solidFill>
              </a:defRPr>
            </a:pPr>
            <a:r>
              <a:rPr sz="975" b="1">
                <a:solidFill>
                  <a:srgbClr val="F4F7FB"/>
                </a:solidFill>
              </a:rPr>
              <a:t>06</a:t>
            </a:r>
          </a:p>
        </p:txBody>
      </p:sp>
      <p:sp>
        <p:nvSpPr>
          <p:cNvPr id="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833222F4-6E4E-41D7-81F6-23D2CAFD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</a:defRPr>
            </a:pPr>
            <a:r>
              <a:rPr sz="2700" b="1">
                <a:solidFill>
                  <a:srgbClr val="F4F7FB"/>
                </a:solidFill>
              </a:rPr>
              <a:t>PPO turns Critic estimates into an Actor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59185-F420-4886-8703-7FCF307F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4D152-29F1-4CFD-985C-1E6283D7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383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DD5E1"/>
                </a:solidFill>
              </a:defRPr>
            </a:pPr>
            <a:r>
              <a:rPr sz="1500" b="1">
                <a:solidFill>
                  <a:srgbClr val="CDD5E1"/>
                </a:solidFill>
              </a:rPr>
              <a:t>TD error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E7D54-1552-4DB3-8EBD-6420CED3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δₜ = rₜ + γVφ(sₜ₊₁) − Vφ(sₜ)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2F164-82EB-4576-9B40-2F52DB83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19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DD5E1"/>
                </a:solidFill>
              </a:defRPr>
            </a:pPr>
            <a:r>
              <a:rPr sz="1500" b="1">
                <a:solidFill>
                  <a:srgbClr val="CDD5E1"/>
                </a:solidFill>
              </a:rPr>
              <a:t>Generalized advantage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B17BC5-6D40-4F08-9571-BB42AB3C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433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4F7FB"/>
                </a:solidFill>
              </a:defRPr>
            </a:pPr>
            <a:r>
              <a:rPr sz="2175" b="1">
                <a:solidFill>
                  <a:srgbClr val="F4F7FB"/>
                </a:solidFill>
              </a:rPr>
              <a:t>Âₜ = δₜ + γλδₜ₊₁ + 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7F759-9EB9-4ABF-AA60-4060A39C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81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DD5E1"/>
                </a:solidFill>
              </a:defRPr>
            </a:pPr>
            <a:r>
              <a:rPr sz="1500" b="1">
                <a:solidFill>
                  <a:srgbClr val="CDD5E1"/>
                </a:solidFill>
              </a:rPr>
              <a:t>Clipped Actor objective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C82EE3-E0B6-441D-9962-C31370E6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053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4F7FB"/>
                </a:solidFill>
              </a:defRPr>
            </a:pPr>
            <a:r>
              <a:rPr sz="2025" b="1">
                <a:solidFill>
                  <a:srgbClr val="F4F7FB"/>
                </a:solidFill>
              </a:rPr>
              <a:t>Lᴾᴾᴼ = −min(ρₜÂₜ, clip(ρₜ)Âₜ)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83342-4553-4D5F-85B6-5AB4C5EB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076450"/>
            <a:ext cx="55245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171D2B"/>
          </a:solidFill>
          <a:ln xmlns:a="http://schemas.openxmlformats.org/drawingml/2006/main" w="9525">
            <a:solidFill>
              <a:srgbClr val="3A475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7D22B-6594-4830-831A-CD3C89FD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Implementation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45B406-8B41-4A91-AAE5-CF1721B0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49530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action, log_prob, value = actor_critic.act(state)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delta = reward + gamma * next_value - value</a:t>
            </a:r>
          </a:p>
          <a:p xmlns:a="http://schemas.openxmlformats.org/drawingml/2006/main">
            <a:pPr algn="l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advantages, returns = generalized_advantage_estimate(...)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ratio = exp(new_log_prob - old_log_prob)</a:t>
            </a:r>
          </a:p>
          <a:p xmlns:a="http://schemas.openxmlformats.org/drawingml/2006/main">
            <a:pPr algn="l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actor_loss = -min(ratio * advantage, clipped * advantage)</a:t>
            </a:r>
          </a:p>
          <a:p xmlns:a="http://schemas.openxmlformats.org/drawingml/2006/main">
            <a:pPr algn="l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critic_loss = 0.5 * (return - value)²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92066D-1D48-4260-993A-CC0AC43D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38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C8"/>
          </a:solidFill>
          <a:ln xmlns:a="http://schemas.openxmlformats.org/drawingml/2006/main" w="0">
            <a:solidFill>
              <a:srgbClr val="00F0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0EB867-DD1B-4B44-91D4-89009A81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769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The Critic learns V(s); its advantage estimate tells the Actor which target-conditioned actions performed better than expected.</a:t>
            </a:r>
          </a:p>
        </p:txBody>
      </p:sp>
    </p:spTree>
    <p:extLst>
      <p:ext uri="{BB962C8B-B14F-4D97-AF65-F5344CB8AC3E}">
        <p14:creationId xmlns:p14="http://schemas.microsoft.com/office/powerpoint/2010/main" val="801273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71A0ED2-E8CF-45F4-9B98-1810DD16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"/>
            <a:ext cx="20193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7AD75-D103-45B3-9164-04AFE096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— RESULTS AND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0A95F-EF99-4531-9FC1-E18AD7AD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3429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F7FB"/>
                </a:solidFill>
              </a:defRPr>
            </a:pPr>
            <a:r>
              <a:rPr sz="975" b="1">
                <a:solidFill>
                  <a:srgbClr val="F4F7FB"/>
                </a:solidFill>
              </a:rPr>
              <a:t>07</a:t>
            </a:r>
          </a:p>
        </p:txBody>
      </p:sp>
      <p:sp>
        <p:nvSpPr>
          <p:cNvPr id="4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BC2FE713-C19C-43A5-B6F0-B71E643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The selected policy succeeds on 100 unseen target episodes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A45426-C123-490A-A92C-378B65EC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992E7-1E5F-4E40-9BA8-FB6A8E5D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62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4F7FB"/>
                </a:solidFill>
              </a:defRPr>
            </a:pPr>
            <a:r>
              <a:rPr sz="3450" b="1">
                <a:solidFill>
                  <a:srgbClr val="F4F7FB"/>
                </a:solidFill>
              </a:rPr>
              <a:t>100/100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8474C1-B5C2-43DF-9430-FD6BA51B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4805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Evaluation successes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0EC72-4D0B-4F46-A1B8-15D87BE3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90950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8FA1B7"/>
                </a:solidFill>
              </a:defRPr>
            </a:pPr>
            <a:r>
              <a:rPr sz="1125" b="0">
                <a:solidFill>
                  <a:srgbClr val="8FA1B7"/>
                </a:solidFill>
              </a:rPr>
              <a:t>seeds 1000–1099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881F19-C64F-4735-9FE2-B53D5FB3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62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4F7FB"/>
                </a:solidFill>
              </a:defRPr>
            </a:pPr>
            <a:r>
              <a:rPr sz="3450" b="1">
                <a:solidFill>
                  <a:srgbClr val="F4F7FB"/>
                </a:solidFill>
              </a:rPr>
              <a:t>0.0185 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5D908-126D-40AB-A3F9-43537E85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4805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Mean minimum distance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0C0F1-B896-4D46-8E57-93570202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790950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8FA1B7"/>
                </a:solidFill>
              </a:defRPr>
            </a:pPr>
            <a:r>
              <a:rPr sz="1125" b="0">
                <a:solidFill>
                  <a:srgbClr val="8FA1B7"/>
                </a:solidFill>
              </a:rPr>
              <a:t>well within 0.045 m tolerance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9714BC-09D6-4B40-9317-01C5EEAF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62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4F7FB"/>
                </a:solidFill>
              </a:defRPr>
            </a:pPr>
            <a:r>
              <a:rPr sz="3450" b="1">
                <a:solidFill>
                  <a:srgbClr val="F4F7FB"/>
                </a:solidFill>
              </a:rPr>
              <a:t>35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994AEF-DAA0-4D0A-9C0C-6E216F97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44805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Selected PPO update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6427BD-A135-4F6A-8EBD-9EE39DF1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90950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8FA1B7"/>
                </a:solidFill>
              </a:defRPr>
            </a:pPr>
            <a:r>
              <a:rPr sz="1125" b="0">
                <a:solidFill>
                  <a:srgbClr val="8FA1B7"/>
                </a:solidFill>
              </a:rPr>
              <a:t>best validation checkpoint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DA97A8-D8CD-4AD4-99B6-4DE1A4C1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62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4F7FB"/>
                </a:solidFill>
              </a:defRPr>
            </a:pPr>
            <a:r>
              <a:rPr sz="3450" b="1">
                <a:solidFill>
                  <a:srgbClr val="F4F7FB"/>
                </a:solidFill>
              </a:rPr>
              <a:t>0.045 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079836-6C68-4A4D-A30A-48D53B1C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44805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7FB"/>
                </a:solidFill>
              </a:defRPr>
            </a:pPr>
            <a:r>
              <a:rPr sz="1350" b="1">
                <a:solidFill>
                  <a:srgbClr val="F4F7FB"/>
                </a:solidFill>
              </a:rPr>
              <a:t>Touch tolerance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DC227A-0578-4BFD-87DB-04169C6F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790950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8FA1B7"/>
                </a:solidFill>
              </a:defRPr>
            </a:pPr>
            <a:r>
              <a:rPr sz="1125" b="0">
                <a:solidFill>
                  <a:srgbClr val="8FA1B7"/>
                </a:solidFill>
              </a:rPr>
              <a:t>8 consecutive steps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3664C9-F12C-4DC4-BEBF-79EFF065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862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592EA7-07C7-47BA-9D4B-CFF1A4F5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767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Validation success during training</a:t>
            </a:r>
          </a:p>
        </p:txBody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714375" y="4857750"/>
          <a:ext xmlns:a="http://schemas.openxmlformats.org/drawingml/2006/main" cx="58102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e00feefce4441e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B87B34-C10E-474F-92BF-E530D97E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667250"/>
            <a:ext cx="45720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ED7B83-D868-4CD5-8B80-16A2273B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29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What the evidence means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65CBC7-3530-450C-99B1-0BB67D0D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3875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• The checkpoint reloads without retraining.</a:t>
            </a:r>
          </a:p>
          <a:p xmlns:a="http://schemas.openxmlformats.org/drawingml/2006/main">
            <a:pPr algn="l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• Every evaluation seed produces a different reachable target.</a:t>
            </a:r>
          </a:p>
          <a:p xmlns:a="http://schemas.openxmlformats.org/drawingml/2006/main">
            <a:pPr algn="l">
              <a:defRPr sz="1350" b="0">
                <a:solidFill>
                  <a:srgbClr val="CDD5E1"/>
                </a:solidFill>
              </a:defRPr>
            </a:pPr>
            <a:r>
              <a:rPr sz="1350" b="0">
                <a:solidFill>
                  <a:srgbClr val="CDD5E1"/>
                </a:solidFill>
              </a:rPr>
              <a:t>• Success requires sustained fingertip proximity, not a single close frame.</a:t>
            </a:r>
          </a:p>
        </p:txBody>
      </p:sp>
    </p:spTree>
    <p:extLst>
      <p:ext uri="{BB962C8B-B14F-4D97-AF65-F5344CB8AC3E}">
        <p14:creationId xmlns:p14="http://schemas.microsoft.com/office/powerpoint/2010/main" val="8170843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FBD94B4-122F-49FE-B49D-8390DFE5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"/>
            <a:ext cx="25336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5B052-7D2A-4CB8-85A8-C7205849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— LIMITATIONS AND NEXT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3CDE66-B383-4B78-9662-01206B0C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3429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F7FB"/>
                </a:solidFill>
              </a:defRPr>
            </a:pPr>
            <a:r>
              <a:rPr sz="975" b="1">
                <a:solidFill>
                  <a:srgbClr val="F4F7FB"/>
                </a:solidFill>
              </a:rPr>
              <a:t>08</a:t>
            </a:r>
          </a:p>
        </p:txBody>
      </p:sp>
      <p:sp>
        <p:nvSpPr>
          <p:cNvPr id="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3BB29604-72E5-4796-89BE-241D6489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4F7FB"/>
                </a:solidFill>
              </a:defRPr>
            </a:pPr>
            <a:r>
              <a:rPr sz="2625" b="1">
                <a:solidFill>
                  <a:srgbClr val="F4F7FB"/>
                </a:solidFill>
              </a:rPr>
              <a:t>The current policy proves adaptation, with clear physical limits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B91ED-6A0B-4012-891F-570549B0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5FE3F-F8CE-41BC-9327-F91E78E1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3333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9050">
            <a:solidFill>
              <a:srgbClr val="00F0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CB29F-4796-48DB-B5F1-054C2DA1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66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7FB"/>
                </a:solidFill>
              </a:defRPr>
            </a:pPr>
            <a:r>
              <a:rPr sz="1800" b="1">
                <a:solidFill>
                  <a:srgbClr val="F4F7FB"/>
                </a:solidFill>
              </a:rPr>
              <a:t>Completed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3C954-9124-4524-ADA3-02EC5643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790825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Five-finger Inspire model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Randomized reachable targets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PPO Actor and Value Critic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Saved-model evaluation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3985A-E5DC-4DB8-9A57-7DDE716A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95500"/>
            <a:ext cx="3333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9050">
            <a:solidFill>
              <a:srgbClr val="FFAD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01A1D-A8EC-4BC4-8456-2B563842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266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7FB"/>
                </a:solidFill>
              </a:defRPr>
            </a:pPr>
            <a:r>
              <a:rPr sz="1800" b="1">
                <a:solidFill>
                  <a:srgbClr val="F4F7FB"/>
                </a:solidFill>
              </a:rPr>
              <a:t>Current limitations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67BD36-65A2-4B70-B51E-CB9D602E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90825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Kinematic joint increments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Virtual distance-based touch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Pointing hand is fixed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Target moves between episodes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4261B-07ED-4321-809A-9C186428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9050">
            <a:solidFill>
              <a:srgbClr val="29A9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79BF6-6058-4E58-B938-6811D970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66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7FB"/>
                </a:solidFill>
              </a:defRPr>
            </a:pPr>
            <a:r>
              <a:rPr sz="1800" b="1">
                <a:solidFill>
                  <a:srgbClr val="F4F7FB"/>
                </a:solidFill>
              </a:rPr>
              <a:t>Next engineering steps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7BB4A0-F541-47B6-9882-056AF734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790825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Cartesian target input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Mid-episode target movement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Dynamic/torque controller</a:t>
            </a:r>
          </a:p>
          <a:p xmlns:a="http://schemas.openxmlformats.org/drawingml/2006/main">
            <a:pPr algn="l">
              <a:defRPr sz="1500" b="0">
                <a:solidFill>
                  <a:srgbClr val="CDD5E1"/>
                </a:solidFill>
              </a:defRPr>
            </a:pPr>
            <a:r>
              <a:rPr sz="1500" b="0">
                <a:solidFill>
                  <a:srgbClr val="CDD5E1"/>
                </a:solidFill>
              </a:rPr>
              <a:t>• Simplified physical contact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B642B0-B343-4F09-8007-27A58E98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387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A8C8B4-2889-4F46-ABFD-5E63F420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292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F0C8"/>
                </a:solidFill>
              </a:defRPr>
            </a:pPr>
            <a:r>
              <a:rPr sz="1575" b="1">
                <a:solidFill>
                  <a:srgbClr val="00F0C8"/>
                </a:solidFill>
              </a:rPr>
              <a:t>Question for feedback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7F524-27D4-4F5F-AB57-7AD56C3B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4F7FB"/>
                </a:solidFill>
              </a:defRPr>
            </a:pPr>
            <a:r>
              <a:rPr sz="1725" b="1">
                <a:solidFill>
                  <a:srgbClr val="F4F7FB"/>
                </a:solidFill>
              </a:rPr>
              <a:t>Is this target-conditioned kinematic baseline an appropriate foundation before introducing torque control and physical contact?</a:t>
            </a:r>
          </a:p>
        </p:txBody>
      </p:sp>
    </p:spTree>
    <p:extLst>
      <p:ext uri="{BB962C8B-B14F-4D97-AF65-F5344CB8AC3E}">
        <p14:creationId xmlns:p14="http://schemas.microsoft.com/office/powerpoint/2010/main" val="3138916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F912625-E7D5-4699-8CAB-6D6D272E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"/>
            <a:ext cx="1428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7101F"/>
          </a:solidFill>
          <a:ln xmlns:a="http://schemas.openxmlformats.org/drawingml/2006/main" w="9525">
            <a:solidFill>
              <a:srgbClr val="00F0C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BF94E2-6DB0-442D-9B2F-667272A0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F0C8"/>
                </a:solidFill>
              </a:defRPr>
            </a:pPr>
            <a:r>
              <a:rPr sz="900" b="1">
                <a:solidFill>
                  <a:srgbClr val="00F0C8"/>
                </a:solidFill>
              </a:rPr>
              <a:t>—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B2B35A-837A-44FD-AE72-59BC766A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3429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F7FB"/>
                </a:solidFill>
              </a:defRPr>
            </a:pPr>
            <a:r>
              <a:rPr sz="975" b="1">
                <a:solidFill>
                  <a:srgbClr val="F4F7FB"/>
                </a:solidFill>
              </a:rPr>
              <a:t>09</a:t>
            </a:r>
          </a:p>
        </p:txBody>
      </p:sp>
      <p:sp>
        <p:nvSpPr>
          <p:cNvPr id="4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36857B60-8200-4F36-943E-9F0F61CC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</a:defRPr>
            </a:pPr>
            <a:r>
              <a:rPr sz="2700" b="1">
                <a:solidFill>
                  <a:srgbClr val="F4F7FB"/>
                </a:solidFill>
              </a:rPr>
              <a:t>The saved Actor now follows five different blue targets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3C6BDC-AAAF-45FE-97AB-0F1D56AF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782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75C"/>
          </a:solidFill>
          <a:ln xmlns:a="http://schemas.openxmlformats.org/drawingml/2006/main" w="0">
            <a:solidFill>
              <a:srgbClr val="3A475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B3254-E9D9-4F7F-A37C-CBB06E5E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288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7FB"/>
                </a:solidFill>
              </a:defRPr>
            </a:pPr>
            <a:r>
              <a:rPr sz="1575" b="1">
                <a:solidFill>
                  <a:srgbClr val="F4F7FB"/>
                </a:solidFill>
              </a:rPr>
              <a:t>Run command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F77B8-BF6E-4BE1-842B-03FE84FE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1076325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71D2B"/>
          </a:solidFill>
          <a:ln xmlns:a="http://schemas.openxmlformats.org/drawingml/2006/main" w="9525">
            <a:solidFill>
              <a:srgbClr val="3A47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0021F4-CA04-4219-961D-AA424BDF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macOS       $ mjpython final_project/evaluate_actor_critic.py --episodes 5 --viewer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</a:defRPr>
            </a:pPr>
            <a:r>
              <a:rPr sz="1500" b="0">
                <a:solidFill>
                  <a:srgbClr val="F4F7FB"/>
                </a:solidFill>
              </a:rPr>
              <a:t>Windows/Linux  $ python final_project/evaluate_actor_critic.py --episodes 5 --viewer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143A16-DD11-4D7D-BB12-780FA952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1475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1EEC96-C829-40BB-9E58-67F65EE6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86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F0C8"/>
                </a:solidFill>
              </a:defRPr>
            </a:pPr>
            <a:r>
              <a:rPr sz="2100" b="1">
                <a:solidFill>
                  <a:srgbClr val="00F0C8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0062E4-7A6D-4497-8F54-6B13309D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671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Checkpoint loaded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2F9524-DE66-4420-8CDE-038F1B16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577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PPO update 35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C2602-2C98-4CBE-BE41-098B73A5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71475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29A9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8C2EDE-FB87-406F-9D9D-531E09AF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86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F0C8"/>
                </a:solidFill>
              </a:defRPr>
            </a:pPr>
            <a:r>
              <a:rPr sz="2100" b="1">
                <a:solidFill>
                  <a:srgbClr val="00F0C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D8C249-32E6-4243-B19E-0AC0D136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671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Blue target moves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150D94-1168-4FC1-A690-B479113B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4577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new target each episode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F02D63-4ABF-4CD2-810E-CB3F7D8F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00F0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F05D67-3D88-4F8C-90B9-D622D99A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F0C8"/>
                </a:solidFill>
              </a:defRPr>
            </a:pPr>
            <a:r>
              <a:rPr sz="2100" b="1">
                <a:solidFill>
                  <a:srgbClr val="00F0C8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F7252E-1B85-4BA7-BAE6-235C0894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8671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Actor controls arm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51A37B-3213-4AAA-9EA8-74AB207A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577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four continuous actions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CAE035-D3A4-4DBE-80EC-EA0991BB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71475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1425"/>
          </a:solidFill>
          <a:ln xmlns:a="http://schemas.openxmlformats.org/drawingml/2006/main" w="14288">
            <a:solidFill>
              <a:srgbClr val="29A9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7B012C-F3A1-4FEB-84C9-1A59E8BD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86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F0C8"/>
                </a:solidFill>
              </a:defRPr>
            </a:pPr>
            <a:r>
              <a:rPr sz="2100" b="1">
                <a:solidFill>
                  <a:srgbClr val="00F0C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617223-C669-4548-8380-422E86B2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671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7FB"/>
                </a:solidFill>
              </a:defRPr>
            </a:pPr>
            <a:r>
              <a:rPr sz="1500" b="1">
                <a:solidFill>
                  <a:srgbClr val="F4F7FB"/>
                </a:solidFill>
              </a:rPr>
              <a:t>Touch is measured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4F0E3-DB9F-409D-9221-BD33BECC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DD5E1"/>
                </a:solidFill>
              </a:defRPr>
            </a:pPr>
            <a:r>
              <a:rPr sz="1275" b="0">
                <a:solidFill>
                  <a:srgbClr val="CDD5E1"/>
                </a:solidFill>
              </a:rPr>
              <a:t>distance, reward, success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58CDE9-6EB4-4EA6-BBA5-3D98828E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72125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C8"/>
          </a:solidFill>
          <a:ln xmlns:a="http://schemas.openxmlformats.org/drawingml/2006/main" w="0">
            <a:solidFill>
              <a:srgbClr val="00F0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498185-A633-4688-AF86-64C6257A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1022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F7FB"/>
                </a:solidFill>
              </a:defRPr>
            </a:pPr>
            <a:r>
              <a:rPr sz="1650" b="1">
                <a:solidFill>
                  <a:srgbClr val="F4F7FB"/>
                </a:solidFill>
              </a:rPr>
              <a:t>Watch the blue target change, the fingertip distance fall, and TOUCH SUCCESS appear without retraining.</a:t>
            </a:r>
          </a:p>
        </p:txBody>
      </p:sp>
    </p:spTree>
    <p:extLst>
      <p:ext uri="{BB962C8B-B14F-4D97-AF65-F5344CB8AC3E}">
        <p14:creationId xmlns:p14="http://schemas.microsoft.com/office/powerpoint/2010/main" val="6004011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2026-08-14T02:23:11.1180000Z</dcterms:created>
  <dcterms:modified xsi:type="dcterms:W3CDTF">2026-08-14T02:23:11.1180000Z</dcterms:modified>
</coreProperties>
</file>