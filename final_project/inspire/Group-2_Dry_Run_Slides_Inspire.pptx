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6342acd7b945ab" /><Relationship Type="http://schemas.openxmlformats.org/officeDocument/2006/relationships/extended-properties" Target="/docProps/app.xml" Id="R3940581c753e41e5" /><Relationship Type="http://schemas.openxmlformats.org/officeDocument/2006/relationships/officeDocument" Target="/ppt/presentation.xml" Id="R4508993fa0e7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28412366ea47c0"/>
  </p:sldMasterIdLst>
  <p:notesMasterIdLst>
    <p:notesMasterId xmlns:r="http://schemas.openxmlformats.org/officeDocument/2006/relationships" r:id="Rbb7d79bc4f434aac"/>
  </p:notesMasterIdLst>
  <p:sldIdLst>
    <p:sldId xmlns:r="http://schemas.openxmlformats.org/officeDocument/2006/relationships" id="256" r:id="R68b0e2a08e8d47cb"/>
    <p:sldId xmlns:r="http://schemas.openxmlformats.org/officeDocument/2006/relationships" id="257" r:id="R4d2a20eab2a5413b"/>
    <p:sldId xmlns:r="http://schemas.openxmlformats.org/officeDocument/2006/relationships" id="258" r:id="R3ddf9d0f189f45fc"/>
    <p:sldId xmlns:r="http://schemas.openxmlformats.org/officeDocument/2006/relationships" id="259" r:id="R27ed999cb259441b"/>
    <p:sldId xmlns:r="http://schemas.openxmlformats.org/officeDocument/2006/relationships" id="260" r:id="R8fc6f1c592644592"/>
    <p:sldId xmlns:r="http://schemas.openxmlformats.org/officeDocument/2006/relationships" id="261" r:id="R03af3f8297de4813"/>
    <p:sldId xmlns:r="http://schemas.openxmlformats.org/officeDocument/2006/relationships" id="262" r:id="Rded20304b5c745f2"/>
    <p:sldId xmlns:r="http://schemas.openxmlformats.org/officeDocument/2006/relationships" id="263" r:id="R5fad3980fdc341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37337f44734f13" /><Relationship Type="http://schemas.openxmlformats.org/officeDocument/2006/relationships/slideMaster" Target="/ppt/slideMasters/slideMaster1.xml" Id="R6828412366ea47c0" /><Relationship Type="http://schemas.openxmlformats.org/officeDocument/2006/relationships/notesMaster" Target="/ppt/notesMasters/notesMaster1.xml" Id="Rbb7d79bc4f434aac" /><Relationship Type="http://schemas.openxmlformats.org/officeDocument/2006/relationships/presProps" Target="/ppt/presProps.xml" Id="R101d9628eea340c1" /><Relationship Type="http://schemas.openxmlformats.org/officeDocument/2006/relationships/tableStyles" Target="/ppt/tableStyles.xml" Id="R2491fb42bcef4757" /><Relationship Type="http://schemas.openxmlformats.org/officeDocument/2006/relationships/slide" Target="/ppt/slides/slide1.xml" Id="R68b0e2a08e8d47cb" /><Relationship Type="http://schemas.openxmlformats.org/officeDocument/2006/relationships/slide" Target="/ppt/slides/slide2.xml" Id="R4d2a20eab2a5413b" /><Relationship Type="http://schemas.openxmlformats.org/officeDocument/2006/relationships/slide" Target="/ppt/slides/slide3.xml" Id="R3ddf9d0f189f45fc" /><Relationship Type="http://schemas.openxmlformats.org/officeDocument/2006/relationships/slide" Target="/ppt/slides/slide4.xml" Id="R27ed999cb259441b" /><Relationship Type="http://schemas.openxmlformats.org/officeDocument/2006/relationships/slide" Target="/ppt/slides/slide5.xml" Id="R8fc6f1c592644592" /><Relationship Type="http://schemas.openxmlformats.org/officeDocument/2006/relationships/slide" Target="/ppt/slides/slide6.xml" Id="R03af3f8297de4813" /><Relationship Type="http://schemas.openxmlformats.org/officeDocument/2006/relationships/slide" Target="/ppt/slides/slide7.xml" Id="Rded20304b5c745f2" /><Relationship Type="http://schemas.openxmlformats.org/officeDocument/2006/relationships/slide" Target="/ppt/slides/slide8.xml" Id="R5fad3980fdc341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0c4c28057f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5f0c89fe424948" /><Relationship Type="http://schemas.openxmlformats.org/officeDocument/2006/relationships/notesMaster" Target="/ppt/notesMasters/notesMaster1.xml" Id="R50615a5bde2948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799e1c272f4089" /><Relationship Type="http://schemas.openxmlformats.org/officeDocument/2006/relationships/notesMaster" Target="/ppt/notesMasters/notesMaster1.xml" Id="Ra6b343f15de749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2c1f0943fe4178" /><Relationship Type="http://schemas.openxmlformats.org/officeDocument/2006/relationships/notesMaster" Target="/ppt/notesMasters/notesMaster1.xml" Id="R2a34a59dd00c46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8b3289d9094fd7" /><Relationship Type="http://schemas.openxmlformats.org/officeDocument/2006/relationships/notesMaster" Target="/ppt/notesMasters/notesMaster1.xml" Id="Rb3a9a9e25a874b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c5fec284e546e1" /><Relationship Type="http://schemas.openxmlformats.org/officeDocument/2006/relationships/notesMaster" Target="/ppt/notesMasters/notesMaster1.xml" Id="R6887d02bf71c42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f006db382d43f3" /><Relationship Type="http://schemas.openxmlformats.org/officeDocument/2006/relationships/notesMaster" Target="/ppt/notesMasters/notesMaster1.xml" Id="R29a11797722e47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517e9009d94c40" /><Relationship Type="http://schemas.openxmlformats.org/officeDocument/2006/relationships/notesMaster" Target="/ppt/notesMasters/notesMaster1.xml" Id="R5c8dcc91997d4f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86f827942644a9" /><Relationship Type="http://schemas.openxmlformats.org/officeDocument/2006/relationships/notesMaster" Target="/ppt/notesMasters/notesMaster1.xml" Id="Rfeec653b255449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scope precisely: this is an executable Inspire five-finger scripted baseline, not a trained reach-and-touch policy. The actual modeled left index fingertip is the endpoint.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stages. A3 proved DQN infrastructure. This Inspire demo validates articulated-hand mechanics. The next stage adds target adaptation and then policy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A3 numbers only as evidence that our DQN training and evaluation pipeline works. Do not claim these elbow-only results prove the new five-finger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53-joint model: 29 body joints plus 24 hand joints. The baseline commands seven left-arm and twelve left-hand targets. The planned RL objective will use fingertip distance, touch reward, and smoothness.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REST, POINT, REACH, TOUCH/HOLD, RETURN, and RELAX. Define target-radius as the allowed centre distance and required-hold as accumulated valid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verified headless result: minimum distance 0.0000 m, touch time 2.002 s, success=True. These are fixed-target scripted results, not learned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about the boundary. We have validated the model, endpoint, gesture, task phases, thresholds, and metrics. The arm does not yet adapt if the target moves.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sequence: expose Gymnasium signals, add IK for target adaptation, train DQN or PPO, and evaluate against this scripted baseline. Ask whether the task scope is appropriate.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eef5dbac8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5b62d660dc49dc" /><Relationship Type="http://schemas.openxmlformats.org/officeDocument/2006/relationships/slideLayout" Target="/ppt/slideLayouts/slideLayout1.xml" Id="R32f33541ea3540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f33541ea3540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beeb7fd9b4d97" /><Relationship Type="http://schemas.openxmlformats.org/officeDocument/2006/relationships/image" Target="/ppt/media/image.png" Id="R7d0f5d9e8b724bd2" /><Relationship Type="http://schemas.openxmlformats.org/officeDocument/2006/relationships/notesSlide" Target="/ppt/notesSlides/notesSlide1.xml" Id="R4dafb30affb94f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556bce38f4ae1" /><Relationship Type="http://schemas.openxmlformats.org/officeDocument/2006/relationships/notesSlide" Target="/ppt/notesSlides/notesSlide2.xml" Id="Rb81ea5ceebb642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8249f655e4443" /><Relationship Type="http://schemas.openxmlformats.org/officeDocument/2006/relationships/image" Target="/ppt/media/image2.png" Id="R486f49524a764b8e" /><Relationship Type="http://schemas.openxmlformats.org/officeDocument/2006/relationships/notesSlide" Target="/ppt/notesSlides/notesSlide3.xml" Id="Rb7486f4fd80648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a47b422944307" /><Relationship Type="http://schemas.openxmlformats.org/officeDocument/2006/relationships/notesSlide" Target="/ppt/notesSlides/notesSlide4.xml" Id="Rc21cab6688024e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e5fb1ff424ff0" /><Relationship Type="http://schemas.openxmlformats.org/officeDocument/2006/relationships/notesSlide" Target="/ppt/notesSlides/notesSlide5.xml" Id="R02b5f3c883734a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75f97333444d4" /><Relationship Type="http://schemas.openxmlformats.org/officeDocument/2006/relationships/chart" Target="/ppt/slides/charts/chart1.xml" Id="R67eec1c5c5264fd6" /><Relationship Type="http://schemas.openxmlformats.org/officeDocument/2006/relationships/notesSlide" Target="/ppt/notesSlides/notesSlide6.xml" Id="Rd1806c07693042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bb58efd644a11" /><Relationship Type="http://schemas.openxmlformats.org/officeDocument/2006/relationships/notesSlide" Target="/ppt/notesSlides/notesSlide7.xml" Id="R7d751a331d6442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3783c5a074d70" /><Relationship Type="http://schemas.openxmlformats.org/officeDocument/2006/relationships/notesSlide" Target="/ppt/notesSlides/notesSlide8.xml" Id="R03fffd1c384f432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Index-tip distance across the six phases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v>Hand-to-target distance (m)</c:v>
          </c:tx>
          <c:spPr>
            <a:solidFill xmlns:a="http://schemas.openxmlformats.org/drawingml/2006/main">
              <a:srgbClr val="FF6B35"/>
            </a:solidFill>
          </c:spPr>
          <c:marker>
            <c:symbol val="none"/>
          </c:marker>
          <c:dLbls/>
          <c:cat>
            <c:numLit>
              <c:formatCode>General</c:formatCode>
              <c:ptCount val="19"/>
              <c:pt idx="0">
                <c:v>0.0</c:v>
              </c:pt>
              <c:pt idx="1">
                <c:v>0.5</c:v>
              </c:pt>
              <c:pt idx="2">
                <c:v>1.0</c:v>
              </c:pt>
              <c:pt idx="3">
                <c:v>1.5</c:v>
              </c:pt>
              <c:pt idx="4">
                <c:v>2.0</c:v>
              </c:pt>
              <c:pt idx="5">
                <c:v>2.5</c:v>
              </c:pt>
              <c:pt idx="6">
                <c:v>3.0</c:v>
              </c:pt>
              <c:pt idx="7">
                <c:v>3.5</c:v>
              </c:pt>
              <c:pt idx="8">
                <c:v>4.0</c:v>
              </c:pt>
              <c:pt idx="9">
                <c:v>4.5</c:v>
              </c:pt>
              <c:pt idx="10">
                <c:v>5.0</c:v>
              </c:pt>
              <c:pt idx="11">
                <c:v>5.5</c:v>
              </c:pt>
              <c:pt idx="12">
                <c:v>6.0</c:v>
              </c:pt>
              <c:pt idx="13">
                <c:v>6.5</c:v>
              </c:pt>
              <c:pt idx="14">
                <c:v>7.0</c:v>
              </c:pt>
              <c:pt idx="15">
                <c:v>7.5</c:v>
              </c:pt>
              <c:pt idx="16">
                <c:v>8.0</c:v>
              </c:pt>
              <c:pt idx="17">
                <c:v>8.5</c:v>
              </c:pt>
              <c:pt idx="18">
                <c:v>9.0</c:v>
              </c:pt>
            </c:numLit>
          </c:cat>
          <c:val>
            <c:numLit>
              <c:formatCode>General</c:formatCode>
              <c:ptCount val="19"/>
              <c:pt idx="0">
                <c:v>0.19883260844535397</c:v>
              </c:pt>
              <c:pt idx="1">
                <c:v>0.19883260844535397</c:v>
              </c:pt>
              <c:pt idx="2">
                <c:v>0.19883260844535397</c:v>
              </c:pt>
              <c:pt idx="3">
                <c:v>0.19883260844535397</c:v>
              </c:pt>
              <c:pt idx="4">
                <c:v>0.19774788931029177</c:v>
              </c:pt>
              <c:pt idx="5">
                <c:v>0.1733197917585547</c:v>
              </c:pt>
              <c:pt idx="6">
                <c:v>0.11864335085944669</c:v>
              </c:pt>
              <c:pt idx="7">
                <c:v>0.04868617804827135</c:v>
              </c:pt>
              <c:pt idx="8">
                <c:v>0.002362150310791257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0.0192613999959415</c:v>
              </c:pt>
              <c:pt idx="13">
                <c:v>0.08328596126501474</c:v>
              </c:pt>
              <c:pt idx="14">
                <c:v>0.149094763591842</c:v>
              </c:pt>
              <c:pt idx="15">
                <c:v>0.18933528555871254</c:v>
              </c:pt>
              <c:pt idx="16">
                <c:v>0.19883260844535397</c:v>
              </c:pt>
              <c:pt idx="17">
                <c:v>0.19883260844535397</c:v>
              </c:pt>
              <c:pt idx="18">
                <c:v>0.19883260844535397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Simulation time (s)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2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Distance (m)</a:t>
                </a:r>
              </a:p>
            </c:rich>
          </c:tx>
          <c:overlay val="0"/>
        </c:title>
        <c:numFmt formatCode="General"/>
        <c:majorUnit val="0.05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49BE3-FB90-498E-9BE2-82A19886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UNITREE G1 + INSPIRE · GROUP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64378-4772-43BB-B4A2-9834794F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Five-finger pointing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is now executable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C2576-6F34-47C0-8BC3-3AFD0E97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An articulated Inspire-hand baseline with fingertip-level success measurement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8804E-C1DD-4B89-B464-28003D17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f5d9e8b724bd2"/>
          <a:srcRect xmlns:a="http://schemas.openxmlformats.org/drawingml/2006/main" l="11373" t="0" r="113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781050"/>
            <a:ext cx="5524500" cy="4648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91196-DBA8-4D8D-B989-64754328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CSCN8020 · Final Project Dry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873EB-2961-4FDB-B443-B5C487CF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67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A3 learning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82709-5DDB-4538-BB28-31043A8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817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Earlier checkpoint evidence; Inspire demo follows live</a:t>
            </a:r>
          </a:p>
        </p:txBody>
      </p:sp>
    </p:spTree>
    <p:extLst>
      <p:ext uri="{BB962C8B-B14F-4D97-AF65-F5344CB8AC3E}">
        <p14:creationId xmlns:p14="http://schemas.microsoft.com/office/powerpoint/2010/main" val="1698685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B2387C-0E47-4C68-8F88-265D4C8F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The Inspire demo connects our proven DQN to a richer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0CB93-3868-4F0E-98B0-F6F12135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9AABB-5834-4EBF-B1CA-3DDF4B0C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571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55EAF-8C25-4F23-B3C2-B384124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F3014-8FCB-48ED-B571-D367E04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19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A3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BD019-7DF4-4778-A591-F162744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14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Learn one joint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BBACB-B1D6-48D5-B7FD-9181D444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DQN selects discrete changes for the left-elbow target.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EEBA2-0B22-427B-A2A1-7C60C263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76375"/>
            <a:ext cx="3571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96436-DEFF-47D3-894E-E40829E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14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FE96C-ED3E-47CE-858B-4767F63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INSPIRE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622A0-7351-4510-82A3-015548C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Validate the hand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F7557-871C-4DF3-AF8D-FC4072D2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Scripted joint targets drive the left arm and articulated fingers.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3961A-FABB-4360-A5C3-87B473C1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76375"/>
            <a:ext cx="3571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564C5-C8AD-4A10-A2DC-4B34ED1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14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A5D2A-B43B-47F3-A4FE-2CE5A8F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19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ADAPTIVE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AEFF0-CB03-4828-BC54-876D5C7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14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Generalize targets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EB3A2-58CB-4D7A-A6F4-E06C26C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IK first, then DQN or PPO across reachable target positions.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8A08F-FAA9-458B-B131-FA6B184E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242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47484-8F6E-4DE1-AAC9-504161DD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7C4F1-2B23-4C2A-8327-E683CE9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The dry run validates mechanics; adaptation and training remain next.</a:t>
            </a:r>
          </a:p>
        </p:txBody>
      </p:sp>
    </p:spTree>
    <p:extLst>
      <p:ext uri="{BB962C8B-B14F-4D97-AF65-F5344CB8AC3E}">
        <p14:creationId xmlns:p14="http://schemas.microsoft.com/office/powerpoint/2010/main" val="2082521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11CFCE-5621-499C-9D40-5106874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The A3 DQN still provides our learning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56D90-ACD0-4D7F-932F-19FC9992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B5C38-B227-444C-A707-EEFDB060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67627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f49524a764b8e"/>
          <a:stretch xmlns:a="http://schemas.openxmlformats.org/drawingml/2006/main"/>
        </p:blipFill>
        <p:spPr>
          <a:xfrm xmlns:a="http://schemas.openxmlformats.org/drawingml/2006/main">
            <a:off x="677466" y="1352550"/>
            <a:ext cx="6207919" cy="4514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B6CC6-FEC0-458C-9F25-0196B17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46BCE"/>
                </a:solidFill>
              </a:defRPr>
            </a:pPr>
            <a:r>
              <a:rPr sz="4050" b="1">
                <a:solidFill>
                  <a:srgbClr val="246BCE"/>
                </a:solidFill>
              </a:rPr>
              <a:t>20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4462-8B86-4BC8-ACD1-2CFDA6D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greedy evaluation successes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BF32F-8CEC-4F24-8303-68644CBD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76575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0F9D7-495B-45C1-9727-BD2D2589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evaluation success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2621B-9A3D-4052-84BC-094E3FC4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0.00491 rad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C8D53-A739-405B-A4BA-1BB8560D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30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mean final absolute error reported for Config A</a:t>
            </a:r>
          </a:p>
        </p:txBody>
      </p:sp>
    </p:spTree>
    <p:extLst>
      <p:ext uri="{BB962C8B-B14F-4D97-AF65-F5344CB8AC3E}">
        <p14:creationId xmlns:p14="http://schemas.microsoft.com/office/powerpoint/2010/main" val="180307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FA8D1-CFE4-4CCD-8C61-1FB0CFD4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The endpoint is now an actuated index fingertip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B5788-5B14-487A-8D12-CADB581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53D4A-F26D-460C-9D5E-03AF3C33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6BCE"/>
                </a:solidFill>
              </a:defRPr>
            </a:pPr>
            <a:r>
              <a:rPr sz="1200" b="1">
                <a:solidFill>
                  <a:srgbClr val="246BCE"/>
                </a:solidFill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C7B7C-B46D-41BF-AEA0-95BDE0A3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53 modeled joints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29 body + 24 hand joints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Left Inspire hand articulated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Right side visually simplified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99B67-87D8-4BA0-A997-CAF1AD75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CONTROL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1B72B-1A13-4AD1-80BF-6B00836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430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7 left-arm targets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12 left-finger targets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Deterministic scripted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joint-position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57402-3A7D-4755-8C7F-1E9AB87C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864B"/>
                </a:solidFill>
              </a:defRPr>
            </a:pPr>
            <a:r>
              <a:rPr sz="1200" b="1">
                <a:solidFill>
                  <a:srgbClr val="18864B"/>
                </a:solidFill>
              </a:rPr>
              <a:t>MEASUREMENT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8DA10-2687-47E4-A4A1-A2C9118F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430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Actual index-tip site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Distance ≤ target radius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Hold ≥ threshold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and complete the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A572C-839A-4DD5-8B63-1F5D2820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14014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07978-07BB-4B7B-901F-72B110BA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4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Planned RL:  rₜ = − ‖p_tip − p_target‖₂ + b_touch − λ · smoothness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24F5B-B823-4E45-A5A7-5D7B4090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24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scripted baseline validates every signal required by the future RL objective.</a:t>
            </a:r>
          </a:p>
        </p:txBody>
      </p:sp>
    </p:spTree>
    <p:extLst>
      <p:ext uri="{BB962C8B-B14F-4D97-AF65-F5344CB8AC3E}">
        <p14:creationId xmlns:p14="http://schemas.microsoft.com/office/powerpoint/2010/main" val="1610845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92121-1956-4A29-8480-3332DF84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Six phases produce one complete point-touch-return 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AB865-4E34-4B71-8C1B-5D892646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E0157-8500-40DB-A8B6-5312D05F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D824C-9E96-468A-87EC-93AEF649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REST /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41D59-FB3A-4F38-8B6C-2D755F49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Relax, then shape the fingers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B49FA-D1DC-461E-AB61-0F14545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431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C87AB-BBC1-48B6-9DF9-9A297FF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5A9C4-E023-431C-9DC7-8A2B8EA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716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851DD-BE1B-497D-ADC3-F1F7331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Move the actual fingertip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65289-2095-44F9-90DF-91B0AA7C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431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43233-F4EA-4ED0-A145-CFE058CF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9130F-AAD4-491B-B4FD-7ADAF34A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716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TOUCH / 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5CA5D-BFDC-4EE1-B671-99097480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Accumulate valid contact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E5138-4E28-422C-88B8-FC4A6AF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431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4E98E-3051-452A-9940-223447C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8590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F83BC-C896-45A8-9C8E-CAA43B72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716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RETURN / RELAX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BE013-820F-40F6-A11E-B949C6B3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Return arm and open hand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E1EAB-B580-487A-9345-514A25B2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42925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A8B64-AA23-4B13-BFA6-7E4FE029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target-radius = 0.045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3F519-FF46-4FF1-B998-CFBEC22C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index-tip site must remain within 4.5 cm of target centre.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413D9-AE5B-4427-A802-26385DB8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102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CD7BC-831F-4D29-9248-B27B0587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767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required-hold = 1.5 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12E6A-5053-4DBD-B95F-5DCC828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At least 1.5 s must accumulate during TOUCH/HOLD.</a:t>
            </a:r>
          </a:p>
        </p:txBody>
      </p:sp>
    </p:spTree>
    <p:extLst>
      <p:ext uri="{BB962C8B-B14F-4D97-AF65-F5344CB8AC3E}">
        <p14:creationId xmlns:p14="http://schemas.microsoft.com/office/powerpoint/2010/main" val="603350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184A6-4EF4-4F68-AE6B-3E2599F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The Inspire baseline reaches the target and holds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31378-C5B8-4303-A0C0-7B324794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00050" y="13144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eec1c5c5264fd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679F3-FCB5-4C43-8B1C-BC45E0F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864B"/>
                </a:solidFill>
              </a:defRPr>
            </a:pPr>
            <a:r>
              <a:rPr sz="3600" b="1">
                <a:solidFill>
                  <a:srgbClr val="18864B"/>
                </a:solidFill>
              </a:rPr>
              <a:t>0.0000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F0065-0CAD-4A14-9FBA-B790309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minimum index-tip distance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275DA-0E2A-4493-9BBB-836FE8A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2.002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DB9AC-E14A-475D-8E38-F9A5F2E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accumulated touch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C7D56-D0D6-4C34-882F-7AF053EF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672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8864B"/>
                </a:solidFill>
              </a:defRPr>
            </a:pPr>
            <a:r>
              <a:rPr sz="3000" b="1">
                <a:solidFill>
                  <a:srgbClr val="18864B"/>
                </a:solidFill>
              </a:rPr>
              <a:t>SUCCESS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23C60-2166-4FB4-A826-1C717331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Visual and headless runs use the same fingertip endpoint and thresholds.</a:t>
            </a:r>
          </a:p>
        </p:txBody>
      </p:sp>
    </p:spTree>
    <p:extLst>
      <p:ext uri="{BB962C8B-B14F-4D97-AF65-F5344CB8AC3E}">
        <p14:creationId xmlns:p14="http://schemas.microsoft.com/office/powerpoint/2010/main" val="902660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1B7F2-1C02-43A9-B068-A8830413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This demo validates mechanics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F7823-435E-4C97-A81B-12DCBEC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DA2D4-3697-4053-8197-D3B0D92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5429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A0A57-581B-4D5E-B0D0-46D23AD7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864B"/>
                </a:solidFill>
              </a:defRPr>
            </a:pPr>
            <a:r>
              <a:rPr sz="1275" b="1">
                <a:solidFill>
                  <a:srgbClr val="18864B"/>
                </a:solidFill>
              </a:rPr>
              <a:t>PROVEN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3277-2CFD-466B-ABD3-A32BC655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66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Articulated five-finger model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Actual index-tip endpoint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Natural point gesture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Six-phase task sequence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Touch-and-hold criterion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Reproducible CSV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7CCB3-46E5-4741-8D73-86BBA3F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56102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E810F-9D98-4B2E-B4AD-74F9A6B8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STILL TO 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662F6-C63C-420E-B13B-7396632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Adapt to a moved target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IK or policy action selection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Reward-driven improvement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Multiple target positions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DQN/PPO baseline comparison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Held-out multi-seed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4C8C1-F175-4D9C-BF25-22F1549E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Today the target is fixed from TOUCH_ARM; moving it requires IK or a learned controller.</a:t>
            </a:r>
          </a:p>
        </p:txBody>
      </p:sp>
    </p:spTree>
    <p:extLst>
      <p:ext uri="{BB962C8B-B14F-4D97-AF65-F5344CB8AC3E}">
        <p14:creationId xmlns:p14="http://schemas.microsoft.com/office/powerpoint/2010/main" val="599665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DEFBA-44F2-4A5A-B176-318F11A0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Next, make the fingertip adapt before full RL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DC97F-6B9C-4B18-A269-8F64941C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F4876-313F-42C9-9B67-9878248B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555555"/>
                </a:solidFill>
              </a:defRPr>
            </a:pPr>
            <a:r>
              <a:rPr sz="2325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DE285-F0F7-431F-B6A5-4E7075C6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5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46DB5-988C-41DA-A517-A0DA9A6D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Expose fingertip error, actions, reward, and termination through Gymnasium.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BCC47-CBBC-4594-B630-F44CB8E8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38275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BFA2D-9450-4EBE-9A05-2587A77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001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555555"/>
                </a:solidFill>
              </a:defRPr>
            </a:pPr>
            <a:r>
              <a:rPr sz="232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2A259-A2AC-4096-A9FB-03901F4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05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Adaptation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84D1A-BA79-40A5-BE62-60F84B0A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Add IK so the arm responds when target position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11B77-1805-4712-B853-3C27DEA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38275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6CD33-58C5-4E70-99F7-8378604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01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555555"/>
                </a:solidFill>
              </a:defRPr>
            </a:pPr>
            <a:r>
              <a:rPr sz="2325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64EC7-BE0B-4215-997F-2B77284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28393-DF42-41A7-BB8E-7CEA80A0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Train DQN or PPO across randomized reachable targets.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72E71-B2F2-44D9-B156-02D60D77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38275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D7BD9-D596-4334-B8E7-9B278E4A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001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6B35"/>
                </a:solidFill>
              </a:defRPr>
            </a:pPr>
            <a:r>
              <a:rPr sz="2325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5F37E-9260-4B0D-99C4-0FEFA6D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05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7D381-C674-41CC-A55E-7F57D8CB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Compare success, distance, hold time, reward, and smoothness.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4F87A-33FD-417D-97FD-8BA8E8D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401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D4B38-78DB-4EA3-B16E-8CE3F286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Dry-run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4472D-535C-439C-9420-A57C4975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149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Confirm the Inspire task scope before adaptive control and training.</a:t>
            </a:r>
          </a:p>
        </p:txBody>
      </p:sp>
    </p:spTree>
    <p:extLst>
      <p:ext uri="{BB962C8B-B14F-4D97-AF65-F5344CB8AC3E}">
        <p14:creationId xmlns:p14="http://schemas.microsoft.com/office/powerpoint/2010/main" val="2127510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2026-08-07T13:31:07.2930000Z</dcterms:created>
  <dcterms:modified xsi:type="dcterms:W3CDTF">2026-08-07T13:31:07.2930000Z</dcterms:modified>
</coreProperties>
</file>