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b583e641db4efe" /><Relationship Type="http://schemas.openxmlformats.org/officeDocument/2006/relationships/extended-properties" Target="/docProps/app.xml" Id="R8b9fdc7940494f57" /><Relationship Type="http://schemas.openxmlformats.org/officeDocument/2006/relationships/officeDocument" Target="/ppt/presentation.xml" Id="Rd346dbc3e7af45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1e19955f1147b0"/>
  </p:sldMasterIdLst>
  <p:notesMasterIdLst>
    <p:notesMasterId xmlns:r="http://schemas.openxmlformats.org/officeDocument/2006/relationships" r:id="R15baf08287b347ac"/>
  </p:notesMasterIdLst>
  <p:sldIdLst>
    <p:sldId xmlns:r="http://schemas.openxmlformats.org/officeDocument/2006/relationships" id="256" r:id="Re7d0fef4542d4d6c"/>
    <p:sldId xmlns:r="http://schemas.openxmlformats.org/officeDocument/2006/relationships" id="257" r:id="R5274cd881cab45f0"/>
    <p:sldId xmlns:r="http://schemas.openxmlformats.org/officeDocument/2006/relationships" id="258" r:id="R63a3a81d0fca402f"/>
    <p:sldId xmlns:r="http://schemas.openxmlformats.org/officeDocument/2006/relationships" id="259" r:id="Rc3aa5059eb664f71"/>
    <p:sldId xmlns:r="http://schemas.openxmlformats.org/officeDocument/2006/relationships" id="260" r:id="R7a5c22c165574df6"/>
    <p:sldId xmlns:r="http://schemas.openxmlformats.org/officeDocument/2006/relationships" id="261" r:id="Ra32d8f1327e24c73"/>
    <p:sldId xmlns:r="http://schemas.openxmlformats.org/officeDocument/2006/relationships" id="262" r:id="Rc6198b9152ec47cd"/>
    <p:sldId xmlns:r="http://schemas.openxmlformats.org/officeDocument/2006/relationships" id="263" r:id="Rb54cead24bd948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0861f95b6d4560" /><Relationship Type="http://schemas.openxmlformats.org/officeDocument/2006/relationships/slideMaster" Target="/ppt/slideMasters/slideMaster1.xml" Id="R441e19955f1147b0" /><Relationship Type="http://schemas.openxmlformats.org/officeDocument/2006/relationships/notesMaster" Target="/ppt/notesMasters/notesMaster1.xml" Id="R15baf08287b347ac" /><Relationship Type="http://schemas.openxmlformats.org/officeDocument/2006/relationships/presProps" Target="/ppt/presProps.xml" Id="R4a446c9710554b4c" /><Relationship Type="http://schemas.openxmlformats.org/officeDocument/2006/relationships/tableStyles" Target="/ppt/tableStyles.xml" Id="Rd77373bdc3ac4eab" /><Relationship Type="http://schemas.openxmlformats.org/officeDocument/2006/relationships/slide" Target="/ppt/slides/slide1.xml" Id="Re7d0fef4542d4d6c" /><Relationship Type="http://schemas.openxmlformats.org/officeDocument/2006/relationships/slide" Target="/ppt/slides/slide2.xml" Id="R5274cd881cab45f0" /><Relationship Type="http://schemas.openxmlformats.org/officeDocument/2006/relationships/slide" Target="/ppt/slides/slide3.xml" Id="R63a3a81d0fca402f" /><Relationship Type="http://schemas.openxmlformats.org/officeDocument/2006/relationships/slide" Target="/ppt/slides/slide4.xml" Id="Rc3aa5059eb664f71" /><Relationship Type="http://schemas.openxmlformats.org/officeDocument/2006/relationships/slide" Target="/ppt/slides/slide5.xml" Id="R7a5c22c165574df6" /><Relationship Type="http://schemas.openxmlformats.org/officeDocument/2006/relationships/slide" Target="/ppt/slides/slide6.xml" Id="Ra32d8f1327e24c73" /><Relationship Type="http://schemas.openxmlformats.org/officeDocument/2006/relationships/slide" Target="/ppt/slides/slide7.xml" Id="Rc6198b9152ec47cd" /><Relationship Type="http://schemas.openxmlformats.org/officeDocument/2006/relationships/slide" Target="/ppt/slides/slide8.xml" Id="Rb54cead24bd948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aec5440d6a4c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46d6cdec994760" /><Relationship Type="http://schemas.openxmlformats.org/officeDocument/2006/relationships/notesMaster" Target="/ppt/notesMasters/notesMaster1.xml" Id="Re0e5586248fb42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6e4d8195944f2c" /><Relationship Type="http://schemas.openxmlformats.org/officeDocument/2006/relationships/notesMaster" Target="/ppt/notesMasters/notesMaster1.xml" Id="Rdf86b63811974c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c2caa337ab4b33" /><Relationship Type="http://schemas.openxmlformats.org/officeDocument/2006/relationships/notesMaster" Target="/ppt/notesMasters/notesMaster1.xml" Id="Rbbdceb6d11e84e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c23bcef0f64387" /><Relationship Type="http://schemas.openxmlformats.org/officeDocument/2006/relationships/notesMaster" Target="/ppt/notesMasters/notesMaster1.xml" Id="R4f759b53367b46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cf6fe31a83473f" /><Relationship Type="http://schemas.openxmlformats.org/officeDocument/2006/relationships/notesMaster" Target="/ppt/notesMasters/notesMaster1.xml" Id="R6e379c7abb304f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c01454c3954d58" /><Relationship Type="http://schemas.openxmlformats.org/officeDocument/2006/relationships/notesMaster" Target="/ppt/notesMasters/notesMaster1.xml" Id="R2f18d23f7e0e47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3713c19fb74b8a" /><Relationship Type="http://schemas.openxmlformats.org/officeDocument/2006/relationships/notesMaster" Target="/ppt/notesMasters/notesMaster1.xml" Id="Rade0ffc639744d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99ddcd943242ea" /><Relationship Type="http://schemas.openxmlformats.org/officeDocument/2006/relationships/notesMaster" Target="/ppt/notesMasters/notesMaster1.xml" Id="R77e7b3a711684c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642797f3b44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0aee36e3184522" /><Relationship Type="http://schemas.openxmlformats.org/officeDocument/2006/relationships/slideLayout" Target="/ppt/slideLayouts/slideLayout1.xml" Id="R36cf2f1f37c940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cf2f1f37c940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4dad325234978" /><Relationship Type="http://schemas.openxmlformats.org/officeDocument/2006/relationships/image" Target="/ppt/media/image.png" Id="R0efce2ca6b6c4aa9" /><Relationship Type="http://schemas.openxmlformats.org/officeDocument/2006/relationships/notesSlide" Target="/ppt/notesSlides/notesSlide1.xml" Id="R842a426dfad846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05696bbbb474c" /><Relationship Type="http://schemas.openxmlformats.org/officeDocument/2006/relationships/notesSlide" Target="/ppt/notesSlides/notesSlide2.xml" Id="R712d0fd541b641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54eccb0ff4cc2" /><Relationship Type="http://schemas.openxmlformats.org/officeDocument/2006/relationships/image" Target="/ppt/media/image2.png" Id="R253ae6120ab74226" /><Relationship Type="http://schemas.openxmlformats.org/officeDocument/2006/relationships/notesSlide" Target="/ppt/notesSlides/notesSlide3.xml" Id="Rb4fd2758b66848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926d204cc4f70" /><Relationship Type="http://schemas.openxmlformats.org/officeDocument/2006/relationships/notesSlide" Target="/ppt/notesSlides/notesSlide4.xml" Id="R511da75967e047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50865cba440f8" /><Relationship Type="http://schemas.openxmlformats.org/officeDocument/2006/relationships/notesSlide" Target="/ppt/notesSlides/notesSlide5.xml" Id="R98e187f1e8d741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b7448a7d04c8a" /><Relationship Type="http://schemas.openxmlformats.org/officeDocument/2006/relationships/chart" Target="/ppt/slides/charts/chart1.xml" Id="Rc77b6fe6e2734b4a" /><Relationship Type="http://schemas.openxmlformats.org/officeDocument/2006/relationships/notesSlide" Target="/ppt/notesSlides/notesSlide6.xml" Id="Rfe108fd06eca41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b700a62f844ae" /><Relationship Type="http://schemas.openxmlformats.org/officeDocument/2006/relationships/notesSlide" Target="/ppt/notesSlides/notesSlide7.xml" Id="R9e029621528d44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58fff37074331" /><Relationship Type="http://schemas.openxmlformats.org/officeDocument/2006/relationships/notesSlide" Target="/ppt/notesSlides/notesSlide8.xml" Id="R8edcad7c473f46a8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Endpoint distance across the four phases</a:t>
            </a:r>
          </a:p>
        </c:rich>
      </c:tx>
      <c:overlay val="0"/>
    </c:title>
    <c:autoTitleDeleted val="0"/>
    <c:plotArea>
      <c:lineChart>
        <c:grouping val="standard"/>
        <c:ser>
          <c:idx val="0"/>
          <c:order val="0"/>
          <c:tx>
            <c:v>Hand-to-target distance (m)</c:v>
          </c:tx>
          <c:spPr>
            <a:solidFill xmlns:a="http://schemas.openxmlformats.org/drawingml/2006/main">
              <a:srgbClr val="FF6B35"/>
            </a:solidFill>
          </c:spPr>
          <c:marker>
            <c:symbol val="none"/>
          </c:marker>
          <c:dLbls/>
          <c:cat>
            <c:numLit>
              <c:formatCode>General</c:formatCode>
              <c:ptCount val="19"/>
              <c:pt idx="0">
                <c:v>0.0</c:v>
              </c:pt>
              <c:pt idx="1">
                <c:v>0.5</c:v>
              </c:pt>
              <c:pt idx="2">
                <c:v>1.0</c:v>
              </c:pt>
              <c:pt idx="3">
                <c:v>1.5</c:v>
              </c:pt>
              <c:pt idx="4">
                <c:v>2.0</c:v>
              </c:pt>
              <c:pt idx="5">
                <c:v>2.5</c:v>
              </c:pt>
              <c:pt idx="6">
                <c:v>3.0</c:v>
              </c:pt>
              <c:pt idx="7">
                <c:v>3.5</c:v>
              </c:pt>
              <c:pt idx="8">
                <c:v>4.0</c:v>
              </c:pt>
              <c:pt idx="9">
                <c:v>4.5</c:v>
              </c:pt>
              <c:pt idx="10">
                <c:v>5.0</c:v>
              </c:pt>
              <c:pt idx="11">
                <c:v>5.5</c:v>
              </c:pt>
              <c:pt idx="12">
                <c:v>6.0</c:v>
              </c:pt>
              <c:pt idx="13">
                <c:v>6.5</c:v>
              </c:pt>
              <c:pt idx="14">
                <c:v>7.0</c:v>
              </c:pt>
              <c:pt idx="15">
                <c:v>7.5</c:v>
              </c:pt>
              <c:pt idx="16">
                <c:v>8.0</c:v>
              </c:pt>
              <c:pt idx="17">
                <c:v>8.5</c:v>
              </c:pt>
              <c:pt idx="18">
                <c:v>9.0</c:v>
              </c:pt>
            </c:numLit>
          </c:cat>
          <c:val>
            <c:numLit>
              <c:formatCode>General</c:formatCode>
              <c:ptCount val="19"/>
              <c:pt idx="0">
                <c:v>0.2291403917987429</c:v>
              </c:pt>
              <c:pt idx="1">
                <c:v>0.2291403917987429</c:v>
              </c:pt>
              <c:pt idx="2">
                <c:v>0.2291403917987429</c:v>
              </c:pt>
              <c:pt idx="3">
                <c:v>0.2219312205700036</c:v>
              </c:pt>
              <c:pt idx="4">
                <c:v>0.19059258503620533</c:v>
              </c:pt>
              <c:pt idx="5">
                <c:v>0.14150544195917944</c:v>
              </c:pt>
              <c:pt idx="6">
                <c:v>0.08294686591720055</c:v>
              </c:pt>
              <c:pt idx="7">
                <c:v>0.030389406901843136</c:v>
              </c:pt>
              <c:pt idx="8">
                <c:v>0.0034730616544175</c:v>
              </c:pt>
              <c:pt idx="9">
                <c:v>0.002355109126136683</c:v>
              </c:pt>
              <c:pt idx="10">
                <c:v>0.0019480845055271435</c:v>
              </c:pt>
              <c:pt idx="11">
                <c:v>0.0016115543387408076</c:v>
              </c:pt>
              <c:pt idx="12">
                <c:v>0.0013223134885511926</c:v>
              </c:pt>
              <c:pt idx="13">
                <c:v>0.009236639729237167</c:v>
              </c:pt>
              <c:pt idx="14">
                <c:v>0.05426779625351568</c:v>
              </c:pt>
              <c:pt idx="15">
                <c:v>0.11328630404575261</c:v>
              </c:pt>
              <c:pt idx="16">
                <c:v>0.16863658216481542</c:v>
              </c:pt>
              <c:pt idx="17">
                <c:v>0.2087553785367242</c:v>
              </c:pt>
              <c:pt idx="18">
                <c:v>0.22752471585520714</c:v>
              </c:pt>
            </c:numLit>
          </c:val>
          <c:smooth val="0"/>
        </c:ser>
        <c:dLbls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Simulation time (s)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B49BE3-FB90-498E-9BE2-82A19886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UNITREE G1 · GROUP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64378-4772-43BB-B4A2-9834794F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Reach-and-touch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is now executable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C2576-6F34-47C0-8BC3-3AFD0E97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561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Dry-run evidence and the path from our A3 DQN baseline to a learned multi-joint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8804E-C1DD-4B89-B464-28003D17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ce2ca6b6c4aa9"/>
          <a:srcRect xmlns:a="http://schemas.openxmlformats.org/drawingml/2006/main" l="11373" t="0" r="113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781050"/>
            <a:ext cx="5524500" cy="4648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91196-DBA8-4D8D-B989-64754328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CSCN8020 · Final Project Dry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873EB-2961-4FDB-B443-B5C487CF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667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A3 trained policy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82709-5DDB-4538-BB28-31043A89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9817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Saved DQN checkpoint controlling the G1 left elbow</a:t>
            </a:r>
          </a:p>
        </p:txBody>
      </p:sp>
    </p:spTree>
    <p:extLst>
      <p:ext uri="{BB962C8B-B14F-4D97-AF65-F5344CB8AC3E}">
        <p14:creationId xmlns:p14="http://schemas.microsoft.com/office/powerpoint/2010/main" val="1698685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B2387C-0E47-4C68-8F88-265D4C8F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11111"/>
                </a:solidFill>
              </a:defRPr>
            </a:pPr>
            <a:r>
              <a:rPr sz="2925" b="0">
                <a:solidFill>
                  <a:srgbClr val="111111"/>
                </a:solidFill>
              </a:rPr>
              <a:t>We are extending a proven controller into a measurable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0CB93-3868-4F0E-98B0-F6F12135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9AABB-5834-4EBF-B1CA-3DDF4B0C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5718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55EAF-8C25-4F23-B3C2-B3841244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F3014-8FCB-48ED-B571-D367E043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19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A3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BD019-7DF4-4778-A591-F162744A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146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Control one joint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BBACB-B1D6-48D5-B7FD-9181D444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5762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DQN selects decrease, hold, or increase for the left elbow target.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EEBA2-0B22-427B-A2A1-7C60C263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76375"/>
            <a:ext cx="35718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96436-DEFF-47D3-894E-E40829E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145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FE96C-ED3E-47CE-858B-4767F63E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CURRENT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622A0-7351-4510-82A3-015548CC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Validate the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F7557-871C-4DF3-AF8D-FC4072D2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5762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Scripted PD targets drive shoulder and elbow through reach, hold, and return.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3961A-FABB-4360-A5C3-87B473C1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76375"/>
            <a:ext cx="35718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564C5-C8AD-4A10-A2DC-4B34ED1F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7145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A5D2A-B43B-47F3-A4FE-2CE5A8F6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19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FINAL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AEFF0-CB03-4828-BC54-876D5C70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9146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Learn the 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EB3A2-58CB-4D7A-A6F4-E06C26CF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5762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DQN or PPO will replace scripted targets and learn from task rewards.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8A08F-FAA9-458B-B131-FA6B184E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242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A47484-8F6E-4DE1-AAC9-504161DD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7C4F1-2B23-4C2A-8327-E683CE90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The dry run proves the middle step; training remains the next milestone.</a:t>
            </a:r>
          </a:p>
        </p:txBody>
      </p:sp>
    </p:spTree>
    <p:extLst>
      <p:ext uri="{BB962C8B-B14F-4D97-AF65-F5344CB8AC3E}">
        <p14:creationId xmlns:p14="http://schemas.microsoft.com/office/powerpoint/2010/main" val="2082521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11CFCE-5621-499C-9D40-51068747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11111"/>
                </a:solidFill>
              </a:defRPr>
            </a:pPr>
            <a:r>
              <a:rPr sz="2925" b="0">
                <a:solidFill>
                  <a:srgbClr val="111111"/>
                </a:solidFill>
              </a:rPr>
              <a:t>The A3 DQN already provides a reliable learning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56D90-ACD0-4D7F-932F-19FC9992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B5C38-B227-444C-A707-EEFDB060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67627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ae6120ab74226"/>
          <a:stretch xmlns:a="http://schemas.openxmlformats.org/drawingml/2006/main"/>
        </p:blipFill>
        <p:spPr>
          <a:xfrm xmlns:a="http://schemas.openxmlformats.org/drawingml/2006/main">
            <a:off x="677466" y="1352550"/>
            <a:ext cx="6207919" cy="4514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B6CC6-FEC0-458C-9F25-0196B17E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46BCE"/>
                </a:solidFill>
              </a:defRPr>
            </a:pPr>
            <a:r>
              <a:rPr sz="4050" b="1">
                <a:solidFill>
                  <a:srgbClr val="246BCE"/>
                </a:solidFill>
              </a:rPr>
              <a:t>20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54462-8B86-4BC8-ACD1-2CFDA6DD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greedy evaluation successes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BF32F-8CEC-4F24-8303-68644CBD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76575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0F9D7-495B-45C1-9727-BD2D2589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862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evaluation success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2621B-9A3D-4052-84BC-094E3FC4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8630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0.00491 rad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C8D53-A739-405B-A4BA-1BB8560D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530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mean final absolute error reported for Config A</a:t>
            </a:r>
          </a:p>
        </p:txBody>
      </p:sp>
    </p:spTree>
    <p:extLst>
      <p:ext uri="{BB962C8B-B14F-4D97-AF65-F5344CB8AC3E}">
        <p14:creationId xmlns:p14="http://schemas.microsoft.com/office/powerpoint/2010/main" val="180307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6FA8D1-CFE4-4CCD-8C61-1FB0CFD4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11111"/>
                </a:solidFill>
              </a:defRPr>
            </a:pPr>
            <a:r>
              <a:rPr sz="2925" b="0">
                <a:solidFill>
                  <a:srgbClr val="111111"/>
                </a:solidFill>
              </a:rPr>
              <a:t>Touch becomes a measurable RL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B5788-5B14-487A-8D12-CADB5811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53D4A-F26D-460C-9D5E-03AF3C33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CE"/>
                </a:solidFill>
              </a:defRPr>
            </a:pPr>
            <a:r>
              <a:rPr sz="1200" b="1">
                <a:solidFill>
                  <a:srgbClr val="246BCE"/>
                </a:solidFill>
              </a:rPr>
              <a:t>OBSERVATION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C7B7C-B46D-41BF-AEA0-95BDE0A3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Joint angles and velocities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Hand and target positions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Hand-to-target error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Current task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99B67-87D8-4BA0-A997-CAF1AD75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295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1B72B-1A13-4AD1-80BF-6B00836C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4307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Discrete target changes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for shoulder and elbow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Initial baseline stays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compatible with DQN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57402-3A7D-4755-8C7F-1E9AB87C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95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864B"/>
                </a:solidFill>
              </a:defRPr>
            </a:pPr>
            <a:r>
              <a:rPr sz="1200" b="1">
                <a:solidFill>
                  <a:srgbClr val="18864B"/>
                </a:solidFill>
              </a:rPr>
              <a:t>SUCCESS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8DA10-2687-47E4-A4A1-A2C9118F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4307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Distance ≤ target radius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and hold duration ≥ threshold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Return to neutral pose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is evaluated separately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A572C-839A-4DD5-8B63-1F5D2820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114014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07978-07BB-4B7B-901F-72B110BA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481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rₜ = − ‖p_hand − p_target‖₂  +  b_touch  −  λ · smoothness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24F5B-B823-4E45-A5A7-5D7B4090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124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Reward closer motion, sustained contact, and stability while penalizing unnecessary oscillation.</a:t>
            </a:r>
          </a:p>
        </p:txBody>
      </p:sp>
    </p:spTree>
    <p:extLst>
      <p:ext uri="{BB962C8B-B14F-4D97-AF65-F5344CB8AC3E}">
        <p14:creationId xmlns:p14="http://schemas.microsoft.com/office/powerpoint/2010/main" val="1610845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A92121-1956-4A29-8480-3332DF84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11111"/>
                </a:solidFill>
              </a:defRPr>
            </a:pPr>
            <a:r>
              <a:rPr sz="2925" b="0">
                <a:solidFill>
                  <a:srgbClr val="111111"/>
                </a:solidFill>
              </a:rPr>
              <a:t>The demo validates one complete reach-touch-return 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AB865-4E34-4B71-8C1B-5D892646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E0157-8500-40DB-A8B6-5312D05F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2324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D824C-9E96-468A-87EC-93AEF649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41D59-FB3A-4F38-8B6C-2D755F49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Stabilize the robot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B49FA-D1DC-461E-AB61-0F14545F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431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C87AB-BBC1-48B6-9DF9-9A297FFB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85900"/>
            <a:ext cx="2324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5A9C4-E023-431C-9DC7-8A2B8EAF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7165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851DD-BE1B-497D-ADC3-F1F7331C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0030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Interpolate arm targets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65289-2095-44F9-90DF-91B0AA7C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431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43233-F4EA-4ED0-A145-CFE058CF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2324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9130F-AAD4-491B-B4FD-7ADAF34A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7165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TOUCH / HOLD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5CA5D-BFDC-4EE1-B671-99097480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Stay inside the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E5138-4E28-422C-88B8-FC4A6AFA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1431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4E98E-3051-452A-9940-223447C0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85900"/>
            <a:ext cx="23241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F83BC-C896-45A8-9C8E-CAA43B72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7165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RETURN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0BE013-820F-40F6-A11E-B949C6B3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Recover neutral pose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E1EAB-B580-487A-9345-514A25B2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5429250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A8B64-AA23-4B13-BFA6-7E4FE029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67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target-radius = 0.045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63F519-FF46-4FF1-B998-CFBEC22C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hand is touching when endpoint distance is within 4.5 cm.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D413D9-AE5B-4427-A802-26385DB8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5610225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CD7BC-831F-4D29-9248-B27B0587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767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required-hold = 1.5 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12E6A-5053-4DBD-B95F-5DCC8284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01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run succeeds only after enough contact time accumulates during TOUCH/HOLD.</a:t>
            </a:r>
          </a:p>
        </p:txBody>
      </p:sp>
    </p:spTree>
    <p:extLst>
      <p:ext uri="{BB962C8B-B14F-4D97-AF65-F5344CB8AC3E}">
        <p14:creationId xmlns:p14="http://schemas.microsoft.com/office/powerpoint/2010/main" val="6033501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8184A6-4EF4-4F68-AE6B-3E2599F6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11111"/>
                </a:solidFill>
              </a:defRPr>
            </a:pPr>
            <a:r>
              <a:rPr sz="2925" b="0">
                <a:solidFill>
                  <a:srgbClr val="111111"/>
                </a:solidFill>
              </a:rPr>
              <a:t>The demo succeeds with 1.2 mm endpoint 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31378-C5B8-4303-A0C0-7B324794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6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400050" y="1314450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7b6fe6e2734b4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679F3-FCB5-4C43-8B1C-BC45E0F6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621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864B"/>
                </a:solidFill>
              </a:defRPr>
            </a:pPr>
            <a:r>
              <a:rPr sz="3600" b="1">
                <a:solidFill>
                  <a:srgbClr val="18864B"/>
                </a:solidFill>
              </a:rPr>
              <a:t>0.0012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F0065-0CAD-4A14-9FBA-B7903093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860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minimum endpoint distance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275DA-0E2A-4493-9BBB-836FE8A0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2.002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DB9AC-E14A-475D-8E38-F9A5F2E2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accumulated touch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C7D56-D0D6-4C34-882F-7AF053EF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672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864B"/>
                </a:solidFill>
              </a:defRPr>
            </a:pPr>
            <a:r>
              <a:rPr sz="3000" b="1">
                <a:solidFill>
                  <a:srgbClr val="18864B"/>
                </a:solidFill>
              </a:rPr>
              <a:t>SUCCESS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23C60-2166-4FB4-A826-1C717331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Headless verification and the visual demo use the same thresholds.</a:t>
            </a:r>
          </a:p>
        </p:txBody>
      </p:sp>
    </p:spTree>
    <p:extLst>
      <p:ext uri="{BB962C8B-B14F-4D97-AF65-F5344CB8AC3E}">
        <p14:creationId xmlns:p14="http://schemas.microsoft.com/office/powerpoint/2010/main" val="9026600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91B7F2-1C02-43A9-B068-A8830413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11111"/>
                </a:solidFill>
              </a:defRPr>
            </a:pPr>
            <a:r>
              <a:rPr sz="2925" b="0">
                <a:solidFill>
                  <a:srgbClr val="111111"/>
                </a:solidFill>
              </a:rPr>
              <a:t>The demo proves task mechanics, not learned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F7823-435E-4C97-A81B-12DCBEC4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DA2D4-3697-4053-8197-D3B0D927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5429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A0A57-581B-4D5E-B0D0-46D23AD7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864B"/>
                </a:solidFill>
              </a:defRPr>
            </a:pPr>
            <a:r>
              <a:rPr sz="1275" b="1">
                <a:solidFill>
                  <a:srgbClr val="18864B"/>
                </a:solidFill>
              </a:rPr>
              <a:t>PROVEN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93277-2CFD-466B-ABD3-A32BC655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667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✓ Multi-joint arm actuation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✓ Virtual target visualization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✓ Endpoint-distance measurement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✓ Touch and hold success rule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✓ Reach, hold, and return phases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✓ Reproducible CSV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7CCB3-46E5-4741-8D73-86BBA3F0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56102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E810F-9D98-4B2E-B4AD-74F9A6B8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8592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STILL TO LEARN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662F6-C63C-420E-B13B-7396632E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○ Action selection from observations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○ Reward-driven policy improvement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○ Robustness across target positions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○ Comparison against scripted baseline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○ Motion smoothness under DQN or PPO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○ Held-out multi-seed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4C8C1-F175-4D9C-BF25-22F1549E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This distinction keeps the dry-run claim accurate and gives us a clean experimental baseline.</a:t>
            </a:r>
          </a:p>
        </p:txBody>
      </p:sp>
    </p:spTree>
    <p:extLst>
      <p:ext uri="{BB962C8B-B14F-4D97-AF65-F5344CB8AC3E}">
        <p14:creationId xmlns:p14="http://schemas.microsoft.com/office/powerpoint/2010/main" val="5996652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6DEFBA-44F2-4A5A-B176-318F11A0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11111"/>
                </a:solidFill>
              </a:defRPr>
            </a:pPr>
            <a:r>
              <a:rPr sz="2925" b="0">
                <a:solidFill>
                  <a:srgbClr val="111111"/>
                </a:solidFill>
              </a:rPr>
              <a:t>Next, the learned policy must beat the scripted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DC97F-6B9C-4B18-A269-8F64941C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F4876-313F-42C9-9B67-9878248B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55555"/>
                </a:solidFill>
              </a:defRPr>
            </a:pPr>
            <a:r>
              <a:rPr sz="2325" b="1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DE285-F0F7-431F-B6A5-4E7075C6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050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Environment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46DB5-988C-41DA-A517-A0DA9A6D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2381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Expose state, discrete actions, reward, and termination through Gymnasium.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BCC47-CBBC-4594-B630-F44CB8E8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38275"/>
            <a:ext cx="952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BFA2D-9450-4EBE-9A05-2587A77F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001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55555"/>
                </a:solidFill>
              </a:defRPr>
            </a:pPr>
            <a:r>
              <a:rPr sz="2325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2A259-A2AC-4096-A9FB-03901F40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050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84D1A-BA79-40A5-BE62-60F84B0A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2381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Train DQN across randomized reachable targets and tune reward weights.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11B77-1805-4712-B853-3C27DEA9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438275"/>
            <a:ext cx="952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6CD33-58C5-4E70-99F7-83786041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001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55555"/>
                </a:solidFill>
              </a:defRPr>
            </a:pPr>
            <a:r>
              <a:rPr sz="2325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64EC7-BE0B-4215-997F-2B772848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050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28393-DF42-41A7-BB8E-7CEA80A0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381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Report success rate, distance, hold time, reward, and smoothness over fixed seeds.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72E71-B2F2-44D9-B156-02D60D77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38275"/>
            <a:ext cx="952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D7BD9-D596-4334-B8E7-9B278E4A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001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6B35"/>
                </a:solidFill>
              </a:defRPr>
            </a:pPr>
            <a:r>
              <a:rPr sz="2325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5F37E-9260-4B0D-99C4-0FEFA6DD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050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7D381-C674-41CC-A55E-7F57D8CB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2381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Keep DQN if motion is stable; compare PPO if discrete control remains jerky.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4F87A-33FD-417D-97FD-8BA8E8D2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14014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2D4B38-78DB-4EA3-B16E-8CE3F286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625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Dry-run 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B4472D-535C-439C-9420-A57C4975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149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Confirm the task definition and evaluation criteria before full training.</a:t>
            </a:r>
          </a:p>
        </p:txBody>
      </p:sp>
    </p:spTree>
    <p:extLst>
      <p:ext uri="{BB962C8B-B14F-4D97-AF65-F5344CB8AC3E}">
        <p14:creationId xmlns:p14="http://schemas.microsoft.com/office/powerpoint/2010/main" val="2127510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2026-08-07T03:11:11.0410000Z</dcterms:created>
  <dcterms:modified xsi:type="dcterms:W3CDTF">2026-08-07T03:11:11.0410000Z</dcterms:modified>
</coreProperties>
</file>